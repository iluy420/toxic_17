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6" autoAdjust="0"/>
    <p:restoredTop sz="88069" autoAdjust="0"/>
  </p:normalViewPr>
  <p:slideViewPr>
    <p:cSldViewPr snapToGrid="0">
      <p:cViewPr varScale="1">
        <p:scale>
          <a:sx n="76" d="100"/>
          <a:sy n="76" d="100"/>
        </p:scale>
        <p:origin x="126" y="52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959E46-69D6-4AF4-9552-D2F7A3C9281B}" type="datetimeFigureOut">
              <a:rPr lang="ru-RU" smtClean="0"/>
              <a:t>28.02.2019</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49C2C8-20CC-4D54-91B3-D4A8B35C47C7}" type="slidenum">
              <a:rPr lang="ru-RU" smtClean="0"/>
              <a:t>‹#›</a:t>
            </a:fld>
            <a:endParaRPr lang="ru-RU"/>
          </a:p>
        </p:txBody>
      </p:sp>
    </p:spTree>
    <p:extLst>
      <p:ext uri="{BB962C8B-B14F-4D97-AF65-F5344CB8AC3E}">
        <p14:creationId xmlns:p14="http://schemas.microsoft.com/office/powerpoint/2010/main" val="2618659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Это 32-разрядный регистр. Однако старшие 16 разрядов используются при работе в защищённом режиме, и пока мы их рассматривать не будем. К младшим 16 разрядам этого регистра можно обращаться как к отдельному регистру с именем FLAGS. Именно этот регистр мы и рассмотрим в этом разделе.</a:t>
            </a:r>
            <a:endParaRPr lang="ru-RU" dirty="0"/>
          </a:p>
        </p:txBody>
      </p:sp>
      <p:sp>
        <p:nvSpPr>
          <p:cNvPr id="4" name="Номер слайда 3"/>
          <p:cNvSpPr>
            <a:spLocks noGrp="1"/>
          </p:cNvSpPr>
          <p:nvPr>
            <p:ph type="sldNum" sz="quarter" idx="10"/>
          </p:nvPr>
        </p:nvSpPr>
        <p:spPr/>
        <p:txBody>
          <a:bodyPr/>
          <a:lstStyle/>
          <a:p>
            <a:fld id="{5249C2C8-20CC-4D54-91B3-D4A8B35C47C7}" type="slidenum">
              <a:rPr lang="ru-RU" smtClean="0"/>
              <a:t>2</a:t>
            </a:fld>
            <a:endParaRPr lang="ru-RU"/>
          </a:p>
        </p:txBody>
      </p:sp>
    </p:spTree>
    <p:extLst>
      <p:ext uri="{BB962C8B-B14F-4D97-AF65-F5344CB8AC3E}">
        <p14:creationId xmlns:p14="http://schemas.microsoft.com/office/powerpoint/2010/main" val="24596524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Большинство из флагов одноимённого регистра нельзя изменять напрямую, т.к. флаги просто показывают нам состояние процессора в текущий момент. Но есть 3 флага, которые программист может менять, в зависимости от поставленной задачи. Это флаги: CF, DF и IF. У них нет операндов и результатом является только изменение значения соответствующего флага: </a:t>
            </a:r>
            <a:r>
              <a:rPr lang="ru-RU" dirty="0" smtClean="0"/>
              <a:t/>
            </a:r>
            <a:br>
              <a:rPr lang="ru-RU" dirty="0" smtClean="0"/>
            </a:br>
            <a:r>
              <a:rPr lang="ru-RU" dirty="0" smtClean="0"/>
              <a:t/>
            </a:r>
            <a:br>
              <a:rPr lang="ru-RU" dirty="0" smtClean="0"/>
            </a:br>
            <a:r>
              <a:rPr lang="ru-RU" sz="1200" b="0" i="0" kern="1200" dirty="0" smtClean="0">
                <a:solidFill>
                  <a:schemeClr val="tx1"/>
                </a:solidFill>
                <a:effectLst/>
                <a:latin typeface="+mn-lt"/>
                <a:ea typeface="+mn-ea"/>
                <a:cs typeface="+mn-cs"/>
              </a:rPr>
              <a:t>Флаг CF - CLC сбрасывает, STC устанавливает, CMC инвертирует значение флага CF.</a:t>
            </a:r>
            <a:r>
              <a:rPr lang="ru-RU" dirty="0" smtClean="0"/>
              <a:t/>
            </a:r>
            <a:br>
              <a:rPr lang="ru-RU" dirty="0" smtClean="0"/>
            </a:br>
            <a:r>
              <a:rPr lang="ru-RU" sz="1200" b="0" i="0" kern="1200" dirty="0" smtClean="0">
                <a:solidFill>
                  <a:schemeClr val="tx1"/>
                </a:solidFill>
                <a:effectLst/>
                <a:latin typeface="+mn-lt"/>
                <a:ea typeface="+mn-ea"/>
                <a:cs typeface="+mn-cs"/>
              </a:rPr>
              <a:t>Флаг DF - CLD сбрасывает, STD устанавливает флаг DF в единицу.</a:t>
            </a:r>
            <a:r>
              <a:rPr lang="ru-RU" dirty="0" smtClean="0"/>
              <a:t/>
            </a:r>
            <a:br>
              <a:rPr lang="ru-RU" dirty="0" smtClean="0"/>
            </a:br>
            <a:r>
              <a:rPr lang="ru-RU" sz="1200" b="0" i="0" kern="1200" dirty="0" smtClean="0">
                <a:solidFill>
                  <a:schemeClr val="tx1"/>
                </a:solidFill>
                <a:effectLst/>
                <a:latin typeface="+mn-lt"/>
                <a:ea typeface="+mn-ea"/>
                <a:cs typeface="+mn-cs"/>
              </a:rPr>
              <a:t>Флаг IF - CLI сбрасывает, STI устанавливает флаг IF в единицу (разрешает прерывания).</a:t>
            </a:r>
            <a:endParaRPr lang="ru-RU" dirty="0"/>
          </a:p>
        </p:txBody>
      </p:sp>
      <p:sp>
        <p:nvSpPr>
          <p:cNvPr id="4" name="Номер слайда 3"/>
          <p:cNvSpPr>
            <a:spLocks noGrp="1"/>
          </p:cNvSpPr>
          <p:nvPr>
            <p:ph type="sldNum" sz="quarter" idx="10"/>
          </p:nvPr>
        </p:nvSpPr>
        <p:spPr/>
        <p:txBody>
          <a:bodyPr/>
          <a:lstStyle/>
          <a:p>
            <a:fld id="{5249C2C8-20CC-4D54-91B3-D4A8B35C47C7}" type="slidenum">
              <a:rPr lang="ru-RU" smtClean="0"/>
              <a:t>4</a:t>
            </a:fld>
            <a:endParaRPr lang="ru-RU"/>
          </a:p>
        </p:txBody>
      </p:sp>
    </p:spTree>
    <p:extLst>
      <p:ext uri="{BB962C8B-B14F-4D97-AF65-F5344CB8AC3E}">
        <p14:creationId xmlns:p14="http://schemas.microsoft.com/office/powerpoint/2010/main" val="4808466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Большинство из флагов одноимённого регистра нельзя изменять напрямую, т.к. флаги просто показывают нам состояние процессора в текущий момент. Но есть 3 флага, которые программист может менять, в зависимости от поставленной задачи. Это флаги: CF, DF и IF. У них нет операндов и результатом является только изменение значения соответствующего флага: </a:t>
            </a:r>
            <a:r>
              <a:rPr lang="ru-RU" dirty="0" smtClean="0"/>
              <a:t/>
            </a:r>
            <a:br>
              <a:rPr lang="ru-RU" dirty="0" smtClean="0"/>
            </a:br>
            <a:r>
              <a:rPr lang="ru-RU" dirty="0" smtClean="0"/>
              <a:t/>
            </a:r>
            <a:br>
              <a:rPr lang="ru-RU" dirty="0" smtClean="0"/>
            </a:br>
            <a:r>
              <a:rPr lang="ru-RU" sz="1200" b="0" i="0" kern="1200" dirty="0" smtClean="0">
                <a:solidFill>
                  <a:schemeClr val="tx1"/>
                </a:solidFill>
                <a:effectLst/>
                <a:latin typeface="+mn-lt"/>
                <a:ea typeface="+mn-ea"/>
                <a:cs typeface="+mn-cs"/>
              </a:rPr>
              <a:t>Флаг CF - CLC сбрасывает, STC устанавливает, CMC инвертирует значение флага CF.</a:t>
            </a:r>
            <a:r>
              <a:rPr lang="ru-RU" dirty="0" smtClean="0"/>
              <a:t/>
            </a:r>
            <a:br>
              <a:rPr lang="ru-RU" dirty="0" smtClean="0"/>
            </a:br>
            <a:r>
              <a:rPr lang="ru-RU" sz="1200" b="0" i="0" kern="1200" dirty="0" smtClean="0">
                <a:solidFill>
                  <a:schemeClr val="tx1"/>
                </a:solidFill>
                <a:effectLst/>
                <a:latin typeface="+mn-lt"/>
                <a:ea typeface="+mn-ea"/>
                <a:cs typeface="+mn-cs"/>
              </a:rPr>
              <a:t>Флаг DF - CLD сбрасывает, STD устанавливает флаг DF в единицу.</a:t>
            </a:r>
            <a:r>
              <a:rPr lang="ru-RU" dirty="0" smtClean="0"/>
              <a:t/>
            </a:r>
            <a:br>
              <a:rPr lang="ru-RU" dirty="0" smtClean="0"/>
            </a:br>
            <a:r>
              <a:rPr lang="ru-RU" sz="1200" b="0" i="0" kern="1200" dirty="0" smtClean="0">
                <a:solidFill>
                  <a:schemeClr val="tx1"/>
                </a:solidFill>
                <a:effectLst/>
                <a:latin typeface="+mn-lt"/>
                <a:ea typeface="+mn-ea"/>
                <a:cs typeface="+mn-cs"/>
              </a:rPr>
              <a:t>Флаг IF - CLI сбрасывает, STI устанавливает флаг IF в единицу (разрешает прерывания).</a:t>
            </a:r>
            <a:endParaRPr lang="ru-RU" dirty="0"/>
          </a:p>
        </p:txBody>
      </p:sp>
      <p:sp>
        <p:nvSpPr>
          <p:cNvPr id="4" name="Номер слайда 3"/>
          <p:cNvSpPr>
            <a:spLocks noGrp="1"/>
          </p:cNvSpPr>
          <p:nvPr>
            <p:ph type="sldNum" sz="quarter" idx="10"/>
          </p:nvPr>
        </p:nvSpPr>
        <p:spPr/>
        <p:txBody>
          <a:bodyPr/>
          <a:lstStyle/>
          <a:p>
            <a:fld id="{5249C2C8-20CC-4D54-91B3-D4A8B35C47C7}" type="slidenum">
              <a:rPr lang="ru-RU" smtClean="0"/>
              <a:t>5</a:t>
            </a:fld>
            <a:endParaRPr lang="ru-RU"/>
          </a:p>
        </p:txBody>
      </p:sp>
    </p:spTree>
    <p:extLst>
      <p:ext uri="{BB962C8B-B14F-4D97-AF65-F5344CB8AC3E}">
        <p14:creationId xmlns:p14="http://schemas.microsoft.com/office/powerpoint/2010/main" val="4262788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Большинство из флагов одноимённого регистра нельзя изменять напрямую, т.к. флаги просто показывают нам состояние процессора в текущий момент. Но есть 3 флага, которые программист может менять, в зависимости от поставленной задачи. Это флаги: CF, DF и IF. У них нет операндов и результатом является только изменение значения соответствующего флага: </a:t>
            </a:r>
            <a:r>
              <a:rPr lang="ru-RU" dirty="0" smtClean="0"/>
              <a:t/>
            </a:r>
            <a:br>
              <a:rPr lang="ru-RU" dirty="0" smtClean="0"/>
            </a:br>
            <a:r>
              <a:rPr lang="ru-RU" dirty="0" smtClean="0"/>
              <a:t/>
            </a:r>
            <a:br>
              <a:rPr lang="ru-RU" dirty="0" smtClean="0"/>
            </a:br>
            <a:r>
              <a:rPr lang="ru-RU" sz="1200" b="0" i="0" kern="1200" dirty="0" smtClean="0">
                <a:solidFill>
                  <a:schemeClr val="tx1"/>
                </a:solidFill>
                <a:effectLst/>
                <a:latin typeface="+mn-lt"/>
                <a:ea typeface="+mn-ea"/>
                <a:cs typeface="+mn-cs"/>
              </a:rPr>
              <a:t>Флаг CF - CLC сбрасывает, STC устанавливает, CMC инвертирует значение флага CF.</a:t>
            </a:r>
            <a:r>
              <a:rPr lang="ru-RU" dirty="0" smtClean="0"/>
              <a:t/>
            </a:r>
            <a:br>
              <a:rPr lang="ru-RU" dirty="0" smtClean="0"/>
            </a:br>
            <a:r>
              <a:rPr lang="ru-RU" sz="1200" b="0" i="0" kern="1200" dirty="0" smtClean="0">
                <a:solidFill>
                  <a:schemeClr val="tx1"/>
                </a:solidFill>
                <a:effectLst/>
                <a:latin typeface="+mn-lt"/>
                <a:ea typeface="+mn-ea"/>
                <a:cs typeface="+mn-cs"/>
              </a:rPr>
              <a:t>Флаг DF - CLD сбрасывает, STD устанавливает флаг DF в единицу.</a:t>
            </a:r>
            <a:r>
              <a:rPr lang="ru-RU" dirty="0" smtClean="0"/>
              <a:t/>
            </a:r>
            <a:br>
              <a:rPr lang="ru-RU" dirty="0" smtClean="0"/>
            </a:br>
            <a:r>
              <a:rPr lang="ru-RU" sz="1200" b="0" i="0" kern="1200" dirty="0" smtClean="0">
                <a:solidFill>
                  <a:schemeClr val="tx1"/>
                </a:solidFill>
                <a:effectLst/>
                <a:latin typeface="+mn-lt"/>
                <a:ea typeface="+mn-ea"/>
                <a:cs typeface="+mn-cs"/>
              </a:rPr>
              <a:t>Флаг IF - CLI сбрасывает, STI устанавливает флаг IF в единицу (разрешает прерывания).</a:t>
            </a:r>
            <a:endParaRPr lang="ru-RU" dirty="0"/>
          </a:p>
        </p:txBody>
      </p:sp>
      <p:sp>
        <p:nvSpPr>
          <p:cNvPr id="4" name="Номер слайда 3"/>
          <p:cNvSpPr>
            <a:spLocks noGrp="1"/>
          </p:cNvSpPr>
          <p:nvPr>
            <p:ph type="sldNum" sz="quarter" idx="10"/>
          </p:nvPr>
        </p:nvSpPr>
        <p:spPr/>
        <p:txBody>
          <a:bodyPr/>
          <a:lstStyle/>
          <a:p>
            <a:fld id="{5249C2C8-20CC-4D54-91B3-D4A8B35C47C7}" type="slidenum">
              <a:rPr lang="ru-RU" smtClean="0"/>
              <a:t>6</a:t>
            </a:fld>
            <a:endParaRPr lang="ru-RU"/>
          </a:p>
        </p:txBody>
      </p:sp>
    </p:spTree>
    <p:extLst>
      <p:ext uri="{BB962C8B-B14F-4D97-AF65-F5344CB8AC3E}">
        <p14:creationId xmlns:p14="http://schemas.microsoft.com/office/powerpoint/2010/main" val="3412839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Большинство из флагов одноимённого регистра нельзя изменять напрямую, т.к. флаги просто показывают нам состояние процессора в текущий момент. Но есть 3 флага, которые программист может менять, в зависимости от поставленной задачи. Это флаги: CF, DF и IF. У них нет операндов и результатом является только изменение значения соответствующего флага: </a:t>
            </a:r>
            <a:r>
              <a:rPr lang="ru-RU" dirty="0" smtClean="0"/>
              <a:t/>
            </a:r>
            <a:br>
              <a:rPr lang="ru-RU" dirty="0" smtClean="0"/>
            </a:br>
            <a:r>
              <a:rPr lang="ru-RU" dirty="0" smtClean="0"/>
              <a:t/>
            </a:r>
            <a:br>
              <a:rPr lang="ru-RU" dirty="0" smtClean="0"/>
            </a:br>
            <a:r>
              <a:rPr lang="ru-RU" sz="1200" b="0" i="0" kern="1200" dirty="0" smtClean="0">
                <a:solidFill>
                  <a:schemeClr val="tx1"/>
                </a:solidFill>
                <a:effectLst/>
                <a:latin typeface="+mn-lt"/>
                <a:ea typeface="+mn-ea"/>
                <a:cs typeface="+mn-cs"/>
              </a:rPr>
              <a:t>Флаг CF - CLC сбрасывает, STC устанавливает, CMC инвертирует значение флага CF.</a:t>
            </a:r>
            <a:r>
              <a:rPr lang="ru-RU" dirty="0" smtClean="0"/>
              <a:t/>
            </a:r>
            <a:br>
              <a:rPr lang="ru-RU" dirty="0" smtClean="0"/>
            </a:br>
            <a:r>
              <a:rPr lang="ru-RU" sz="1200" b="0" i="0" kern="1200" dirty="0" smtClean="0">
                <a:solidFill>
                  <a:schemeClr val="tx1"/>
                </a:solidFill>
                <a:effectLst/>
                <a:latin typeface="+mn-lt"/>
                <a:ea typeface="+mn-ea"/>
                <a:cs typeface="+mn-cs"/>
              </a:rPr>
              <a:t>Флаг DF - CLD сбрасывает, STD устанавливает флаг DF в единицу.</a:t>
            </a:r>
            <a:r>
              <a:rPr lang="ru-RU" dirty="0" smtClean="0"/>
              <a:t/>
            </a:r>
            <a:br>
              <a:rPr lang="ru-RU" dirty="0" smtClean="0"/>
            </a:br>
            <a:r>
              <a:rPr lang="ru-RU" sz="1200" b="0" i="0" kern="1200" dirty="0" smtClean="0">
                <a:solidFill>
                  <a:schemeClr val="tx1"/>
                </a:solidFill>
                <a:effectLst/>
                <a:latin typeface="+mn-lt"/>
                <a:ea typeface="+mn-ea"/>
                <a:cs typeface="+mn-cs"/>
              </a:rPr>
              <a:t>Флаг IF - CLI сбрасывает, STI устанавливает флаг IF в единицу (разрешает прерывания).</a:t>
            </a:r>
            <a:endParaRPr lang="ru-RU" dirty="0" smtClean="0"/>
          </a:p>
        </p:txBody>
      </p:sp>
      <p:sp>
        <p:nvSpPr>
          <p:cNvPr id="4" name="Номер слайда 3"/>
          <p:cNvSpPr>
            <a:spLocks noGrp="1"/>
          </p:cNvSpPr>
          <p:nvPr>
            <p:ph type="sldNum" sz="quarter" idx="10"/>
          </p:nvPr>
        </p:nvSpPr>
        <p:spPr/>
        <p:txBody>
          <a:bodyPr/>
          <a:lstStyle/>
          <a:p>
            <a:fld id="{5249C2C8-20CC-4D54-91B3-D4A8B35C47C7}" type="slidenum">
              <a:rPr lang="ru-RU" smtClean="0"/>
              <a:t>7</a:t>
            </a:fld>
            <a:endParaRPr lang="ru-RU"/>
          </a:p>
        </p:txBody>
      </p:sp>
    </p:spTree>
    <p:extLst>
      <p:ext uri="{BB962C8B-B14F-4D97-AF65-F5344CB8AC3E}">
        <p14:creationId xmlns:p14="http://schemas.microsoft.com/office/powerpoint/2010/main" val="21654590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ru-RU" smtClean="0"/>
              <a:t>Образец заголовка</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2/28/2019</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2/28/2019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2/28/2019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2/28/2019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2/28/2019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2/28/2019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2/28/2019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ru-RU" smtClean="0"/>
              <a:t>Образец заголовка</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61BEF0D-F0BB-DE4B-95CE-6DB70DBA9567}" type="datetimeFigureOut">
              <a:rPr lang="en-US" dirty="0"/>
              <a:pPr/>
              <a:t>2/28/2019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ru-RU" smtClean="0"/>
              <a:t>Образец заголовка</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61BEF0D-F0BB-DE4B-95CE-6DB70DBA9567}" type="datetimeFigureOut">
              <a:rPr lang="en-US" dirty="0"/>
              <a:pPr/>
              <a:t>2/28/2019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61BEF0D-F0BB-DE4B-95CE-6DB70DBA9567}" type="datetimeFigureOut">
              <a:rPr lang="en-US" dirty="0"/>
              <a:pPr/>
              <a:t>2/28/2019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2/28/2019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ru-RU" smtClean="0"/>
              <a:t>Образец заголовка</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smtClean="0"/>
              <a:t>Образец текста</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2/28/2019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2/28/2019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ru-RU" smtClean="0"/>
              <a:t>Образец заголовка</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2/28/2019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ru-RU" smtClean="0"/>
              <a:t>Образец заголовка</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2/28/2019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2/28/2019</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av-assembler.ru/asm/afd/asm-cpu-registers.ht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b="1" dirty="0"/>
              <a:t>Регистр флагов</a:t>
            </a:r>
            <a:br>
              <a:rPr lang="ru-RU" b="1" dirty="0"/>
            </a:br>
            <a:endParaRPr lang="ru-RU" dirty="0"/>
          </a:p>
        </p:txBody>
      </p:sp>
      <p:sp>
        <p:nvSpPr>
          <p:cNvPr id="3" name="Подзаголовок 2"/>
          <p:cNvSpPr>
            <a:spLocks noGrp="1"/>
          </p:cNvSpPr>
          <p:nvPr>
            <p:ph type="subTitle" idx="1"/>
          </p:nvPr>
        </p:nvSpPr>
        <p:spPr/>
        <p:txBody>
          <a:bodyPr/>
          <a:lstStyle/>
          <a:p>
            <a:r>
              <a:rPr lang="ru-RU" dirty="0" smtClean="0"/>
              <a:t>Пестов А.И.</a:t>
            </a:r>
            <a:endParaRPr lang="ru-RU" dirty="0"/>
          </a:p>
        </p:txBody>
      </p:sp>
    </p:spTree>
    <p:extLst>
      <p:ext uri="{BB962C8B-B14F-4D97-AF65-F5344CB8AC3E}">
        <p14:creationId xmlns:p14="http://schemas.microsoft.com/office/powerpoint/2010/main" val="25484069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Регистр флагов</a:t>
            </a:r>
            <a:endParaRPr lang="ru-RU" dirty="0"/>
          </a:p>
        </p:txBody>
      </p:sp>
      <p:sp>
        <p:nvSpPr>
          <p:cNvPr id="3" name="Объект 2"/>
          <p:cNvSpPr>
            <a:spLocks noGrp="1"/>
          </p:cNvSpPr>
          <p:nvPr>
            <p:ph idx="1"/>
          </p:nvPr>
        </p:nvSpPr>
        <p:spPr/>
        <p:txBody>
          <a:bodyPr/>
          <a:lstStyle/>
          <a:p>
            <a:r>
              <a:rPr lang="ru-RU" b="1" dirty="0"/>
              <a:t>Регистр флагов</a:t>
            </a:r>
            <a:r>
              <a:rPr lang="ru-RU" dirty="0"/>
              <a:t> – это очень важный </a:t>
            </a:r>
            <a:r>
              <a:rPr lang="ru-RU" b="1" dirty="0">
                <a:hlinkClick r:id="rId3"/>
              </a:rPr>
              <a:t>регистр</a:t>
            </a:r>
            <a:r>
              <a:rPr lang="ru-RU" dirty="0"/>
              <a:t> процессора, который используется при выполнении большинства команд. Регистр флагов носит название </a:t>
            </a:r>
            <a:r>
              <a:rPr lang="ru-RU" b="1" dirty="0"/>
              <a:t>EFLAGS</a:t>
            </a:r>
            <a:r>
              <a:rPr lang="ru-RU" dirty="0" smtClean="0"/>
              <a:t>.</a:t>
            </a:r>
          </a:p>
          <a:p>
            <a:endParaRPr lang="ru-RU" dirty="0"/>
          </a:p>
          <a:p>
            <a:r>
              <a:rPr lang="ru-RU" dirty="0"/>
              <a:t>Каждый бит в регистре </a:t>
            </a:r>
            <a:r>
              <a:rPr lang="ru-RU" b="1" dirty="0"/>
              <a:t>FLAGS</a:t>
            </a:r>
            <a:r>
              <a:rPr lang="ru-RU" dirty="0"/>
              <a:t> является флагом. </a:t>
            </a:r>
            <a:r>
              <a:rPr lang="ru-RU" b="1" dirty="0"/>
              <a:t>Флаг</a:t>
            </a:r>
            <a:r>
              <a:rPr lang="ru-RU" dirty="0"/>
              <a:t> – это один или несколько битов памяти, которые могут принимать двоичные значения (или комбинации значений) и характеризуют состояние какого-либо объекта.</a:t>
            </a:r>
            <a:endParaRPr lang="ru-RU" dirty="0"/>
          </a:p>
        </p:txBody>
      </p:sp>
    </p:spTree>
    <p:extLst>
      <p:ext uri="{BB962C8B-B14F-4D97-AF65-F5344CB8AC3E}">
        <p14:creationId xmlns:p14="http://schemas.microsoft.com/office/powerpoint/2010/main" val="6467574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Регистр флагов </a:t>
            </a:r>
            <a:r>
              <a:rPr lang="en-US" b="1" dirty="0"/>
              <a:t>FLAGS</a:t>
            </a:r>
            <a:endParaRPr lang="ru-RU" dirty="0"/>
          </a:p>
        </p:txBody>
      </p:sp>
      <p:graphicFrame>
        <p:nvGraphicFramePr>
          <p:cNvPr id="4" name="Объект 3"/>
          <p:cNvGraphicFramePr>
            <a:graphicFrameLocks noGrp="1"/>
          </p:cNvGraphicFramePr>
          <p:nvPr>
            <p:ph idx="1"/>
            <p:extLst>
              <p:ext uri="{D42A27DB-BD31-4B8C-83A1-F6EECF244321}">
                <p14:modId xmlns:p14="http://schemas.microsoft.com/office/powerpoint/2010/main" val="502279978"/>
              </p:ext>
            </p:extLst>
          </p:nvPr>
        </p:nvGraphicFramePr>
        <p:xfrm>
          <a:off x="1295402" y="2755900"/>
          <a:ext cx="9601192" cy="816610"/>
        </p:xfrm>
        <a:graphic>
          <a:graphicData uri="http://schemas.openxmlformats.org/drawingml/2006/table">
            <a:tbl>
              <a:tblPr/>
              <a:tblGrid>
                <a:gridCol w="761998"/>
                <a:gridCol w="367554"/>
                <a:gridCol w="564776"/>
                <a:gridCol w="564776"/>
                <a:gridCol w="564776"/>
                <a:gridCol w="564776"/>
                <a:gridCol w="564776"/>
                <a:gridCol w="564776"/>
                <a:gridCol w="564776"/>
                <a:gridCol w="564776"/>
                <a:gridCol w="564776"/>
                <a:gridCol w="564776"/>
                <a:gridCol w="564776"/>
                <a:gridCol w="564776"/>
                <a:gridCol w="564776"/>
                <a:gridCol w="564776"/>
                <a:gridCol w="564776"/>
              </a:tblGrid>
              <a:tr h="447040">
                <a:tc>
                  <a:txBody>
                    <a:bodyPr/>
                    <a:lstStyle/>
                    <a:p>
                      <a:r>
                        <a:rPr lang="ru-RU" b="1" dirty="0"/>
                        <a:t>Бит</a:t>
                      </a:r>
                      <a:endParaRPr lang="ru-RU" dirty="0"/>
                    </a:p>
                  </a:txBody>
                  <a:tcPr marL="47625" marR="47625" marT="47625" marB="47625" anchor="ctr">
                    <a:lnL>
                      <a:noFill/>
                    </a:lnL>
                    <a:lnR>
                      <a:noFill/>
                    </a:lnR>
                    <a:lnT>
                      <a:noFill/>
                    </a:lnT>
                    <a:lnB>
                      <a:noFill/>
                    </a:lnB>
                    <a:solidFill>
                      <a:srgbClr val="C0C0C0"/>
                    </a:solidFill>
                  </a:tcPr>
                </a:tc>
                <a:tc>
                  <a:txBody>
                    <a:bodyPr/>
                    <a:lstStyle/>
                    <a:p>
                      <a:r>
                        <a:rPr lang="ru-RU"/>
                        <a:t>15</a:t>
                      </a:r>
                    </a:p>
                  </a:txBody>
                  <a:tcPr marL="47625" marR="47625" marT="47625" marB="47625" anchor="ctr">
                    <a:lnL>
                      <a:noFill/>
                    </a:lnL>
                    <a:lnR>
                      <a:noFill/>
                    </a:lnR>
                    <a:lnT>
                      <a:noFill/>
                    </a:lnT>
                    <a:lnB>
                      <a:noFill/>
                    </a:lnB>
                    <a:solidFill>
                      <a:srgbClr val="FFFFFF"/>
                    </a:solidFill>
                  </a:tcPr>
                </a:tc>
                <a:tc>
                  <a:txBody>
                    <a:bodyPr/>
                    <a:lstStyle/>
                    <a:p>
                      <a:r>
                        <a:rPr lang="ru-RU"/>
                        <a:t>14</a:t>
                      </a:r>
                    </a:p>
                  </a:txBody>
                  <a:tcPr marL="47625" marR="47625" marT="47625" marB="47625" anchor="ctr">
                    <a:lnL>
                      <a:noFill/>
                    </a:lnL>
                    <a:lnR>
                      <a:noFill/>
                    </a:lnR>
                    <a:lnT>
                      <a:noFill/>
                    </a:lnT>
                    <a:lnB>
                      <a:noFill/>
                    </a:lnB>
                    <a:solidFill>
                      <a:srgbClr val="FFFFFF"/>
                    </a:solidFill>
                  </a:tcPr>
                </a:tc>
                <a:tc>
                  <a:txBody>
                    <a:bodyPr/>
                    <a:lstStyle/>
                    <a:p>
                      <a:r>
                        <a:rPr lang="ru-RU"/>
                        <a:t>13</a:t>
                      </a:r>
                    </a:p>
                  </a:txBody>
                  <a:tcPr marL="47625" marR="47625" marT="47625" marB="47625" anchor="ctr">
                    <a:lnL>
                      <a:noFill/>
                    </a:lnL>
                    <a:lnR>
                      <a:noFill/>
                    </a:lnR>
                    <a:lnT>
                      <a:noFill/>
                    </a:lnT>
                    <a:lnB>
                      <a:noFill/>
                    </a:lnB>
                    <a:solidFill>
                      <a:srgbClr val="FFFFFF"/>
                    </a:solidFill>
                  </a:tcPr>
                </a:tc>
                <a:tc>
                  <a:txBody>
                    <a:bodyPr/>
                    <a:lstStyle/>
                    <a:p>
                      <a:r>
                        <a:rPr lang="ru-RU"/>
                        <a:t>12</a:t>
                      </a:r>
                    </a:p>
                  </a:txBody>
                  <a:tcPr marL="47625" marR="47625" marT="47625" marB="47625" anchor="ctr">
                    <a:lnL>
                      <a:noFill/>
                    </a:lnL>
                    <a:lnR>
                      <a:noFill/>
                    </a:lnR>
                    <a:lnT>
                      <a:noFill/>
                    </a:lnT>
                    <a:lnB>
                      <a:noFill/>
                    </a:lnB>
                    <a:solidFill>
                      <a:srgbClr val="FFFFFF"/>
                    </a:solidFill>
                  </a:tcPr>
                </a:tc>
                <a:tc>
                  <a:txBody>
                    <a:bodyPr/>
                    <a:lstStyle/>
                    <a:p>
                      <a:r>
                        <a:rPr lang="ru-RU"/>
                        <a:t>11</a:t>
                      </a:r>
                    </a:p>
                  </a:txBody>
                  <a:tcPr marL="47625" marR="47625" marT="47625" marB="47625" anchor="ctr">
                    <a:lnL>
                      <a:noFill/>
                    </a:lnL>
                    <a:lnR>
                      <a:noFill/>
                    </a:lnR>
                    <a:lnT>
                      <a:noFill/>
                    </a:lnT>
                    <a:lnB>
                      <a:noFill/>
                    </a:lnB>
                    <a:solidFill>
                      <a:srgbClr val="FFFFFF"/>
                    </a:solidFill>
                  </a:tcPr>
                </a:tc>
                <a:tc>
                  <a:txBody>
                    <a:bodyPr/>
                    <a:lstStyle/>
                    <a:p>
                      <a:r>
                        <a:rPr lang="ru-RU"/>
                        <a:t>10</a:t>
                      </a:r>
                    </a:p>
                  </a:txBody>
                  <a:tcPr marL="47625" marR="47625" marT="47625" marB="47625" anchor="ctr">
                    <a:lnL>
                      <a:noFill/>
                    </a:lnL>
                    <a:lnR>
                      <a:noFill/>
                    </a:lnR>
                    <a:lnT>
                      <a:noFill/>
                    </a:lnT>
                    <a:lnB>
                      <a:noFill/>
                    </a:lnB>
                    <a:solidFill>
                      <a:srgbClr val="FFFFFF"/>
                    </a:solidFill>
                  </a:tcPr>
                </a:tc>
                <a:tc>
                  <a:txBody>
                    <a:bodyPr/>
                    <a:lstStyle/>
                    <a:p>
                      <a:r>
                        <a:rPr lang="ru-RU"/>
                        <a:t>9</a:t>
                      </a:r>
                    </a:p>
                  </a:txBody>
                  <a:tcPr marL="47625" marR="47625" marT="47625" marB="47625" anchor="ctr">
                    <a:lnL>
                      <a:noFill/>
                    </a:lnL>
                    <a:lnR>
                      <a:noFill/>
                    </a:lnR>
                    <a:lnT>
                      <a:noFill/>
                    </a:lnT>
                    <a:lnB>
                      <a:noFill/>
                    </a:lnB>
                    <a:solidFill>
                      <a:srgbClr val="FFFFFF"/>
                    </a:solidFill>
                  </a:tcPr>
                </a:tc>
                <a:tc>
                  <a:txBody>
                    <a:bodyPr/>
                    <a:lstStyle/>
                    <a:p>
                      <a:r>
                        <a:rPr lang="ru-RU"/>
                        <a:t>8</a:t>
                      </a:r>
                    </a:p>
                  </a:txBody>
                  <a:tcPr marL="47625" marR="47625" marT="47625" marB="47625" anchor="ctr">
                    <a:lnL>
                      <a:noFill/>
                    </a:lnL>
                    <a:lnR>
                      <a:noFill/>
                    </a:lnR>
                    <a:lnT>
                      <a:noFill/>
                    </a:lnT>
                    <a:lnB>
                      <a:noFill/>
                    </a:lnB>
                    <a:solidFill>
                      <a:srgbClr val="FFFFFF"/>
                    </a:solidFill>
                  </a:tcPr>
                </a:tc>
                <a:tc>
                  <a:txBody>
                    <a:bodyPr/>
                    <a:lstStyle/>
                    <a:p>
                      <a:r>
                        <a:rPr lang="ru-RU"/>
                        <a:t>7</a:t>
                      </a:r>
                    </a:p>
                  </a:txBody>
                  <a:tcPr marL="47625" marR="47625" marT="47625" marB="47625" anchor="ctr">
                    <a:lnL>
                      <a:noFill/>
                    </a:lnL>
                    <a:lnR>
                      <a:noFill/>
                    </a:lnR>
                    <a:lnT>
                      <a:noFill/>
                    </a:lnT>
                    <a:lnB>
                      <a:noFill/>
                    </a:lnB>
                    <a:solidFill>
                      <a:srgbClr val="FFFFFF"/>
                    </a:solidFill>
                  </a:tcPr>
                </a:tc>
                <a:tc>
                  <a:txBody>
                    <a:bodyPr/>
                    <a:lstStyle/>
                    <a:p>
                      <a:r>
                        <a:rPr lang="ru-RU"/>
                        <a:t>6</a:t>
                      </a:r>
                    </a:p>
                  </a:txBody>
                  <a:tcPr marL="47625" marR="47625" marT="47625" marB="47625" anchor="ctr">
                    <a:lnL>
                      <a:noFill/>
                    </a:lnL>
                    <a:lnR>
                      <a:noFill/>
                    </a:lnR>
                    <a:lnT>
                      <a:noFill/>
                    </a:lnT>
                    <a:lnB>
                      <a:noFill/>
                    </a:lnB>
                    <a:solidFill>
                      <a:srgbClr val="FFFFFF"/>
                    </a:solidFill>
                  </a:tcPr>
                </a:tc>
                <a:tc>
                  <a:txBody>
                    <a:bodyPr/>
                    <a:lstStyle/>
                    <a:p>
                      <a:r>
                        <a:rPr lang="ru-RU"/>
                        <a:t>5</a:t>
                      </a:r>
                    </a:p>
                  </a:txBody>
                  <a:tcPr marL="47625" marR="47625" marT="47625" marB="47625" anchor="ctr">
                    <a:lnL>
                      <a:noFill/>
                    </a:lnL>
                    <a:lnR>
                      <a:noFill/>
                    </a:lnR>
                    <a:lnT>
                      <a:noFill/>
                    </a:lnT>
                    <a:lnB>
                      <a:noFill/>
                    </a:lnB>
                    <a:solidFill>
                      <a:srgbClr val="FFFFFF"/>
                    </a:solidFill>
                  </a:tcPr>
                </a:tc>
                <a:tc>
                  <a:txBody>
                    <a:bodyPr/>
                    <a:lstStyle/>
                    <a:p>
                      <a:r>
                        <a:rPr lang="ru-RU"/>
                        <a:t>4</a:t>
                      </a:r>
                    </a:p>
                  </a:txBody>
                  <a:tcPr marL="47625" marR="47625" marT="47625" marB="47625" anchor="ctr">
                    <a:lnL>
                      <a:noFill/>
                    </a:lnL>
                    <a:lnR>
                      <a:noFill/>
                    </a:lnR>
                    <a:lnT>
                      <a:noFill/>
                    </a:lnT>
                    <a:lnB>
                      <a:noFill/>
                    </a:lnB>
                    <a:solidFill>
                      <a:srgbClr val="FFFFFF"/>
                    </a:solidFill>
                  </a:tcPr>
                </a:tc>
                <a:tc>
                  <a:txBody>
                    <a:bodyPr/>
                    <a:lstStyle/>
                    <a:p>
                      <a:r>
                        <a:rPr lang="ru-RU"/>
                        <a:t>3</a:t>
                      </a:r>
                    </a:p>
                  </a:txBody>
                  <a:tcPr marL="47625" marR="47625" marT="47625" marB="47625" anchor="ctr">
                    <a:lnL>
                      <a:noFill/>
                    </a:lnL>
                    <a:lnR>
                      <a:noFill/>
                    </a:lnR>
                    <a:lnT>
                      <a:noFill/>
                    </a:lnT>
                    <a:lnB>
                      <a:noFill/>
                    </a:lnB>
                    <a:solidFill>
                      <a:srgbClr val="FFFFFF"/>
                    </a:solidFill>
                  </a:tcPr>
                </a:tc>
                <a:tc>
                  <a:txBody>
                    <a:bodyPr/>
                    <a:lstStyle/>
                    <a:p>
                      <a:r>
                        <a:rPr lang="ru-RU"/>
                        <a:t>2</a:t>
                      </a:r>
                    </a:p>
                  </a:txBody>
                  <a:tcPr marL="47625" marR="47625" marT="47625" marB="47625" anchor="ctr">
                    <a:lnL>
                      <a:noFill/>
                    </a:lnL>
                    <a:lnR>
                      <a:noFill/>
                    </a:lnR>
                    <a:lnT>
                      <a:noFill/>
                    </a:lnT>
                    <a:lnB>
                      <a:noFill/>
                    </a:lnB>
                    <a:solidFill>
                      <a:srgbClr val="FFFFFF"/>
                    </a:solidFill>
                  </a:tcPr>
                </a:tc>
                <a:tc>
                  <a:txBody>
                    <a:bodyPr/>
                    <a:lstStyle/>
                    <a:p>
                      <a:r>
                        <a:rPr lang="ru-RU"/>
                        <a:t>1</a:t>
                      </a:r>
                    </a:p>
                  </a:txBody>
                  <a:tcPr marL="47625" marR="47625" marT="47625" marB="47625" anchor="ctr">
                    <a:lnL>
                      <a:noFill/>
                    </a:lnL>
                    <a:lnR>
                      <a:noFill/>
                    </a:lnR>
                    <a:lnT>
                      <a:noFill/>
                    </a:lnT>
                    <a:lnB>
                      <a:noFill/>
                    </a:lnB>
                    <a:solidFill>
                      <a:srgbClr val="FFFFFF"/>
                    </a:solidFill>
                  </a:tcPr>
                </a:tc>
                <a:tc>
                  <a:txBody>
                    <a:bodyPr/>
                    <a:lstStyle/>
                    <a:p>
                      <a:r>
                        <a:rPr lang="ru-RU"/>
                        <a:t>0</a:t>
                      </a:r>
                    </a:p>
                  </a:txBody>
                  <a:tcPr marL="47625" marR="47625" marT="47625" marB="47625" anchor="ctr">
                    <a:lnL>
                      <a:noFill/>
                    </a:lnL>
                    <a:lnR>
                      <a:noFill/>
                    </a:lnR>
                    <a:lnT>
                      <a:noFill/>
                    </a:lnT>
                    <a:lnB>
                      <a:noFill/>
                    </a:lnB>
                    <a:solidFill>
                      <a:srgbClr val="FFFFFF"/>
                    </a:solidFill>
                  </a:tcPr>
                </a:tc>
              </a:tr>
              <a:tr h="0">
                <a:tc>
                  <a:txBody>
                    <a:bodyPr/>
                    <a:lstStyle/>
                    <a:p>
                      <a:r>
                        <a:rPr lang="ru-RU" b="1" dirty="0"/>
                        <a:t>Флаг</a:t>
                      </a:r>
                      <a:endParaRPr lang="ru-RU" dirty="0"/>
                    </a:p>
                  </a:txBody>
                  <a:tcPr marL="47625" marR="47625" marT="47625" marB="47625" anchor="ctr">
                    <a:lnL>
                      <a:noFill/>
                    </a:lnL>
                    <a:lnR>
                      <a:noFill/>
                    </a:lnR>
                    <a:lnT>
                      <a:noFill/>
                    </a:lnT>
                    <a:lnB>
                      <a:noFill/>
                    </a:lnB>
                    <a:solidFill>
                      <a:srgbClr val="C0C0C0"/>
                    </a:solidFill>
                  </a:tcPr>
                </a:tc>
                <a:tc>
                  <a:txBody>
                    <a:bodyPr/>
                    <a:lstStyle/>
                    <a:p>
                      <a:r>
                        <a:rPr lang="ru-RU"/>
                        <a:t>0</a:t>
                      </a:r>
                    </a:p>
                  </a:txBody>
                  <a:tcPr marL="47625" marR="47625" marT="47625" marB="47625" anchor="ctr">
                    <a:lnL>
                      <a:noFill/>
                    </a:lnL>
                    <a:lnR>
                      <a:noFill/>
                    </a:lnR>
                    <a:lnT>
                      <a:noFill/>
                    </a:lnT>
                    <a:lnB>
                      <a:noFill/>
                    </a:lnB>
                    <a:solidFill>
                      <a:srgbClr val="FFFFFF"/>
                    </a:solidFill>
                  </a:tcPr>
                </a:tc>
                <a:tc>
                  <a:txBody>
                    <a:bodyPr/>
                    <a:lstStyle/>
                    <a:p>
                      <a:r>
                        <a:rPr lang="en-US"/>
                        <a:t>NT</a:t>
                      </a:r>
                    </a:p>
                  </a:txBody>
                  <a:tcPr marL="47625" marR="47625" marT="47625" marB="47625" anchor="ctr">
                    <a:lnL>
                      <a:noFill/>
                    </a:lnL>
                    <a:lnR>
                      <a:noFill/>
                    </a:lnR>
                    <a:lnT>
                      <a:noFill/>
                    </a:lnT>
                    <a:lnB>
                      <a:noFill/>
                    </a:lnB>
                    <a:solidFill>
                      <a:srgbClr val="FFFFFF"/>
                    </a:solidFill>
                  </a:tcPr>
                </a:tc>
                <a:tc gridSpan="2">
                  <a:txBody>
                    <a:bodyPr/>
                    <a:lstStyle/>
                    <a:p>
                      <a:pPr algn="ctr"/>
                      <a:r>
                        <a:rPr lang="en-US"/>
                        <a:t>IOPL</a:t>
                      </a:r>
                    </a:p>
                  </a:txBody>
                  <a:tcPr marL="47625" marR="47625" marT="47625" marB="47625" anchor="ctr">
                    <a:lnL>
                      <a:noFill/>
                    </a:lnL>
                    <a:lnR>
                      <a:noFill/>
                    </a:lnR>
                    <a:lnT>
                      <a:noFill/>
                    </a:lnT>
                    <a:lnB>
                      <a:noFill/>
                    </a:lnB>
                    <a:solidFill>
                      <a:srgbClr val="FFFFFF"/>
                    </a:solidFill>
                  </a:tcPr>
                </a:tc>
                <a:tc hMerge="1">
                  <a:txBody>
                    <a:bodyPr/>
                    <a:lstStyle/>
                    <a:p>
                      <a:endParaRPr lang="ru-RU"/>
                    </a:p>
                  </a:txBody>
                  <a:tcPr/>
                </a:tc>
                <a:tc>
                  <a:txBody>
                    <a:bodyPr/>
                    <a:lstStyle/>
                    <a:p>
                      <a:r>
                        <a:rPr lang="en-US"/>
                        <a:t>OF</a:t>
                      </a:r>
                    </a:p>
                  </a:txBody>
                  <a:tcPr marL="47625" marR="47625" marT="47625" marB="47625" anchor="ctr">
                    <a:lnL>
                      <a:noFill/>
                    </a:lnL>
                    <a:lnR>
                      <a:noFill/>
                    </a:lnR>
                    <a:lnT>
                      <a:noFill/>
                    </a:lnT>
                    <a:lnB>
                      <a:noFill/>
                    </a:lnB>
                    <a:solidFill>
                      <a:srgbClr val="FFFFFF"/>
                    </a:solidFill>
                  </a:tcPr>
                </a:tc>
                <a:tc>
                  <a:txBody>
                    <a:bodyPr/>
                    <a:lstStyle/>
                    <a:p>
                      <a:r>
                        <a:rPr lang="en-US"/>
                        <a:t>DF</a:t>
                      </a:r>
                    </a:p>
                  </a:txBody>
                  <a:tcPr marL="47625" marR="47625" marT="47625" marB="47625" anchor="ctr">
                    <a:lnL>
                      <a:noFill/>
                    </a:lnL>
                    <a:lnR>
                      <a:noFill/>
                    </a:lnR>
                    <a:lnT>
                      <a:noFill/>
                    </a:lnT>
                    <a:lnB>
                      <a:noFill/>
                    </a:lnB>
                    <a:solidFill>
                      <a:srgbClr val="FFFFFF"/>
                    </a:solidFill>
                  </a:tcPr>
                </a:tc>
                <a:tc>
                  <a:txBody>
                    <a:bodyPr/>
                    <a:lstStyle/>
                    <a:p>
                      <a:r>
                        <a:rPr lang="en-US"/>
                        <a:t>IF</a:t>
                      </a:r>
                    </a:p>
                  </a:txBody>
                  <a:tcPr marL="47625" marR="47625" marT="47625" marB="47625" anchor="ctr">
                    <a:lnL>
                      <a:noFill/>
                    </a:lnL>
                    <a:lnR>
                      <a:noFill/>
                    </a:lnR>
                    <a:lnT>
                      <a:noFill/>
                    </a:lnT>
                    <a:lnB>
                      <a:noFill/>
                    </a:lnB>
                    <a:solidFill>
                      <a:srgbClr val="FFFFFF"/>
                    </a:solidFill>
                  </a:tcPr>
                </a:tc>
                <a:tc>
                  <a:txBody>
                    <a:bodyPr/>
                    <a:lstStyle/>
                    <a:p>
                      <a:r>
                        <a:rPr lang="en-US"/>
                        <a:t>TF</a:t>
                      </a:r>
                    </a:p>
                  </a:txBody>
                  <a:tcPr marL="47625" marR="47625" marT="47625" marB="47625" anchor="ctr">
                    <a:lnL>
                      <a:noFill/>
                    </a:lnL>
                    <a:lnR>
                      <a:noFill/>
                    </a:lnR>
                    <a:lnT>
                      <a:noFill/>
                    </a:lnT>
                    <a:lnB>
                      <a:noFill/>
                    </a:lnB>
                    <a:solidFill>
                      <a:srgbClr val="FFFFFF"/>
                    </a:solidFill>
                  </a:tcPr>
                </a:tc>
                <a:tc>
                  <a:txBody>
                    <a:bodyPr/>
                    <a:lstStyle/>
                    <a:p>
                      <a:r>
                        <a:rPr lang="en-US"/>
                        <a:t>SF</a:t>
                      </a:r>
                    </a:p>
                  </a:txBody>
                  <a:tcPr marL="47625" marR="47625" marT="47625" marB="47625" anchor="ctr">
                    <a:lnL>
                      <a:noFill/>
                    </a:lnL>
                    <a:lnR>
                      <a:noFill/>
                    </a:lnR>
                    <a:lnT>
                      <a:noFill/>
                    </a:lnT>
                    <a:lnB>
                      <a:noFill/>
                    </a:lnB>
                    <a:solidFill>
                      <a:srgbClr val="FFFFFF"/>
                    </a:solidFill>
                  </a:tcPr>
                </a:tc>
                <a:tc>
                  <a:txBody>
                    <a:bodyPr/>
                    <a:lstStyle/>
                    <a:p>
                      <a:r>
                        <a:rPr lang="en-US"/>
                        <a:t>ZF</a:t>
                      </a:r>
                    </a:p>
                  </a:txBody>
                  <a:tcPr marL="47625" marR="47625" marT="47625" marB="47625" anchor="ctr">
                    <a:lnL>
                      <a:noFill/>
                    </a:lnL>
                    <a:lnR>
                      <a:noFill/>
                    </a:lnR>
                    <a:lnT>
                      <a:noFill/>
                    </a:lnT>
                    <a:lnB>
                      <a:noFill/>
                    </a:lnB>
                    <a:solidFill>
                      <a:srgbClr val="FFFFFF"/>
                    </a:solidFill>
                  </a:tcPr>
                </a:tc>
                <a:tc>
                  <a:txBody>
                    <a:bodyPr/>
                    <a:lstStyle/>
                    <a:p>
                      <a:r>
                        <a:rPr lang="ru-RU"/>
                        <a:t>0</a:t>
                      </a:r>
                    </a:p>
                  </a:txBody>
                  <a:tcPr marL="47625" marR="47625" marT="47625" marB="47625" anchor="ctr">
                    <a:lnL>
                      <a:noFill/>
                    </a:lnL>
                    <a:lnR>
                      <a:noFill/>
                    </a:lnR>
                    <a:lnT>
                      <a:noFill/>
                    </a:lnT>
                    <a:lnB>
                      <a:noFill/>
                    </a:lnB>
                    <a:solidFill>
                      <a:srgbClr val="FFFFFF"/>
                    </a:solidFill>
                  </a:tcPr>
                </a:tc>
                <a:tc>
                  <a:txBody>
                    <a:bodyPr/>
                    <a:lstStyle/>
                    <a:p>
                      <a:r>
                        <a:rPr lang="en-US"/>
                        <a:t>AF</a:t>
                      </a:r>
                    </a:p>
                  </a:txBody>
                  <a:tcPr marL="47625" marR="47625" marT="47625" marB="47625" anchor="ctr">
                    <a:lnL>
                      <a:noFill/>
                    </a:lnL>
                    <a:lnR>
                      <a:noFill/>
                    </a:lnR>
                    <a:lnT>
                      <a:noFill/>
                    </a:lnT>
                    <a:lnB>
                      <a:noFill/>
                    </a:lnB>
                    <a:solidFill>
                      <a:srgbClr val="FFFFFF"/>
                    </a:solidFill>
                  </a:tcPr>
                </a:tc>
                <a:tc>
                  <a:txBody>
                    <a:bodyPr/>
                    <a:lstStyle/>
                    <a:p>
                      <a:r>
                        <a:rPr lang="ru-RU"/>
                        <a:t>0</a:t>
                      </a:r>
                    </a:p>
                  </a:txBody>
                  <a:tcPr marL="47625" marR="47625" marT="47625" marB="47625" anchor="ctr">
                    <a:lnL>
                      <a:noFill/>
                    </a:lnL>
                    <a:lnR>
                      <a:noFill/>
                    </a:lnR>
                    <a:lnT>
                      <a:noFill/>
                    </a:lnT>
                    <a:lnB>
                      <a:noFill/>
                    </a:lnB>
                    <a:solidFill>
                      <a:srgbClr val="FFFFFF"/>
                    </a:solidFill>
                  </a:tcPr>
                </a:tc>
                <a:tc>
                  <a:txBody>
                    <a:bodyPr/>
                    <a:lstStyle/>
                    <a:p>
                      <a:r>
                        <a:rPr lang="en-US"/>
                        <a:t>PF</a:t>
                      </a:r>
                    </a:p>
                  </a:txBody>
                  <a:tcPr marL="47625" marR="47625" marT="47625" marB="47625" anchor="ctr">
                    <a:lnL>
                      <a:noFill/>
                    </a:lnL>
                    <a:lnR>
                      <a:noFill/>
                    </a:lnR>
                    <a:lnT>
                      <a:noFill/>
                    </a:lnT>
                    <a:lnB>
                      <a:noFill/>
                    </a:lnB>
                    <a:solidFill>
                      <a:srgbClr val="FFFFFF"/>
                    </a:solidFill>
                  </a:tcPr>
                </a:tc>
                <a:tc>
                  <a:txBody>
                    <a:bodyPr/>
                    <a:lstStyle/>
                    <a:p>
                      <a:r>
                        <a:rPr lang="ru-RU"/>
                        <a:t>1</a:t>
                      </a:r>
                    </a:p>
                  </a:txBody>
                  <a:tcPr marL="47625" marR="47625" marT="47625" marB="47625" anchor="ctr">
                    <a:lnL>
                      <a:noFill/>
                    </a:lnL>
                    <a:lnR>
                      <a:noFill/>
                    </a:lnR>
                    <a:lnT>
                      <a:noFill/>
                    </a:lnT>
                    <a:lnB>
                      <a:noFill/>
                    </a:lnB>
                    <a:solidFill>
                      <a:srgbClr val="FFFFFF"/>
                    </a:solidFill>
                  </a:tcPr>
                </a:tc>
                <a:tc>
                  <a:txBody>
                    <a:bodyPr/>
                    <a:lstStyle/>
                    <a:p>
                      <a:r>
                        <a:rPr lang="en-US" dirty="0"/>
                        <a:t>CF</a:t>
                      </a:r>
                    </a:p>
                  </a:txBody>
                  <a:tcPr marL="47625" marR="47625" marT="47625" marB="47625" anchor="ctr">
                    <a:lnL>
                      <a:noFill/>
                    </a:lnL>
                    <a:lnR>
                      <a:noFill/>
                    </a:lnR>
                    <a:lnT>
                      <a:noFill/>
                    </a:lnT>
                    <a:lnB>
                      <a:noFill/>
                    </a:lnB>
                    <a:solidFill>
                      <a:srgbClr val="FFFFFF"/>
                    </a:solidFill>
                  </a:tcPr>
                </a:tc>
              </a:tr>
            </a:tbl>
          </a:graphicData>
        </a:graphic>
      </p:graphicFrame>
      <p:sp>
        <p:nvSpPr>
          <p:cNvPr id="5" name="Прямоугольник 4"/>
          <p:cNvSpPr/>
          <p:nvPr/>
        </p:nvSpPr>
        <p:spPr>
          <a:xfrm>
            <a:off x="1981200" y="3895636"/>
            <a:ext cx="8915398" cy="923330"/>
          </a:xfrm>
          <a:prstGeom prst="rect">
            <a:avLst/>
          </a:prstGeom>
        </p:spPr>
        <p:txBody>
          <a:bodyPr wrap="square">
            <a:spAutoFit/>
          </a:bodyPr>
          <a:lstStyle/>
          <a:p>
            <a:r>
              <a:rPr lang="ru-RU" b="1" dirty="0">
                <a:solidFill>
                  <a:srgbClr val="000000"/>
                </a:solidFill>
                <a:latin typeface="Verdana" panose="020B0604030504040204" pitchFamily="34" charset="0"/>
              </a:rPr>
              <a:t>Флаг установлен</a:t>
            </a:r>
            <a:r>
              <a:rPr lang="ru-RU" dirty="0">
                <a:solidFill>
                  <a:srgbClr val="000000"/>
                </a:solidFill>
                <a:latin typeface="Verdana" panose="020B0604030504040204" pitchFamily="34" charset="0"/>
              </a:rPr>
              <a:t>, если значение соответствующего ему бита равно 1</a:t>
            </a:r>
            <a:r>
              <a:rPr lang="ru-RU" dirty="0" smtClean="0">
                <a:solidFill>
                  <a:srgbClr val="000000"/>
                </a:solidFill>
                <a:latin typeface="Verdana" panose="020B0604030504040204" pitchFamily="34" charset="0"/>
              </a:rPr>
              <a:t>.</a:t>
            </a:r>
          </a:p>
          <a:p>
            <a:endParaRPr lang="ru-RU" dirty="0">
              <a:solidFill>
                <a:srgbClr val="000000"/>
              </a:solidFill>
              <a:latin typeface="Verdana" panose="020B0604030504040204" pitchFamily="34" charset="0"/>
            </a:endParaRPr>
          </a:p>
          <a:p>
            <a:r>
              <a:rPr lang="ru-RU" b="1" dirty="0">
                <a:solidFill>
                  <a:srgbClr val="000000"/>
                </a:solidFill>
                <a:latin typeface="Verdana" panose="020B0604030504040204" pitchFamily="34" charset="0"/>
              </a:rPr>
              <a:t>Флаг сброшен</a:t>
            </a:r>
            <a:r>
              <a:rPr lang="ru-RU" dirty="0">
                <a:solidFill>
                  <a:srgbClr val="000000"/>
                </a:solidFill>
                <a:latin typeface="Verdana" panose="020B0604030504040204" pitchFamily="34" charset="0"/>
              </a:rPr>
              <a:t>, если значение соответствующего ему бита равно 0.</a:t>
            </a:r>
            <a:endParaRPr lang="ru-RU" b="0" i="0" dirty="0">
              <a:solidFill>
                <a:srgbClr val="000000"/>
              </a:solidFill>
              <a:effectLst/>
              <a:latin typeface="Verdana" panose="020B0604030504040204" pitchFamily="34" charset="0"/>
            </a:endParaRPr>
          </a:p>
        </p:txBody>
      </p:sp>
    </p:spTree>
    <p:extLst>
      <p:ext uri="{BB962C8B-B14F-4D97-AF65-F5344CB8AC3E}">
        <p14:creationId xmlns:p14="http://schemas.microsoft.com/office/powerpoint/2010/main" val="27751726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Описание флагов регистра </a:t>
            </a:r>
            <a:r>
              <a:rPr lang="en-US" b="1" dirty="0"/>
              <a:t>FLAGS</a:t>
            </a:r>
            <a:endParaRPr lang="ru-RU" dirty="0"/>
          </a:p>
        </p:txBody>
      </p:sp>
      <p:graphicFrame>
        <p:nvGraphicFramePr>
          <p:cNvPr id="4" name="Объект 3"/>
          <p:cNvGraphicFramePr>
            <a:graphicFrameLocks noGrp="1"/>
          </p:cNvGraphicFramePr>
          <p:nvPr>
            <p:ph idx="1"/>
            <p:extLst>
              <p:ext uri="{D42A27DB-BD31-4B8C-83A1-F6EECF244321}">
                <p14:modId xmlns:p14="http://schemas.microsoft.com/office/powerpoint/2010/main" val="1607393493"/>
              </p:ext>
            </p:extLst>
          </p:nvPr>
        </p:nvGraphicFramePr>
        <p:xfrm>
          <a:off x="952500" y="2472111"/>
          <a:ext cx="10312401" cy="3827196"/>
        </p:xfrm>
        <a:graphic>
          <a:graphicData uri="http://schemas.openxmlformats.org/drawingml/2006/table">
            <a:tbl>
              <a:tblPr/>
              <a:tblGrid>
                <a:gridCol w="812800"/>
                <a:gridCol w="1663700"/>
                <a:gridCol w="1397000"/>
                <a:gridCol w="6438901"/>
              </a:tblGrid>
              <a:tr h="140846">
                <a:tc>
                  <a:txBody>
                    <a:bodyPr/>
                    <a:lstStyle/>
                    <a:p>
                      <a:r>
                        <a:rPr lang="ru-RU" sz="1800" b="1" dirty="0"/>
                        <a:t>Бит</a:t>
                      </a:r>
                      <a:endParaRPr lang="ru-RU" sz="1800" dirty="0"/>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C0C0"/>
                    </a:solidFill>
                  </a:tcPr>
                </a:tc>
                <a:tc>
                  <a:txBody>
                    <a:bodyPr/>
                    <a:lstStyle/>
                    <a:p>
                      <a:r>
                        <a:rPr lang="ru-RU" sz="1800" b="1" dirty="0"/>
                        <a:t>Обозначение</a:t>
                      </a:r>
                      <a:endParaRPr lang="ru-RU" sz="1800" dirty="0"/>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C0C0"/>
                    </a:solidFill>
                  </a:tcPr>
                </a:tc>
                <a:tc>
                  <a:txBody>
                    <a:bodyPr/>
                    <a:lstStyle/>
                    <a:p>
                      <a:r>
                        <a:rPr lang="ru-RU" sz="1800" b="1"/>
                        <a:t>Название</a:t>
                      </a:r>
                      <a:endParaRPr lang="ru-RU" sz="1800"/>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C0C0"/>
                    </a:solidFill>
                  </a:tcPr>
                </a:tc>
                <a:tc>
                  <a:txBody>
                    <a:bodyPr/>
                    <a:lstStyle/>
                    <a:p>
                      <a:r>
                        <a:rPr lang="ru-RU" sz="1800" b="1"/>
                        <a:t>Описание</a:t>
                      </a:r>
                      <a:endParaRPr lang="ru-RU" sz="1800"/>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C0C0"/>
                    </a:solidFill>
                  </a:tcPr>
                </a:tc>
              </a:tr>
              <a:tr h="1709032">
                <a:tc>
                  <a:txBody>
                    <a:bodyPr/>
                    <a:lstStyle/>
                    <a:p>
                      <a:pPr algn="ctr"/>
                      <a:r>
                        <a:rPr lang="ru-RU" sz="1800"/>
                        <a:t>0</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800"/>
                        <a:t>CF</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a:t>Carry Flag</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ru-RU" sz="1800" b="1" dirty="0"/>
                        <a:t>Флаг переноса</a:t>
                      </a:r>
                      <a:r>
                        <a:rPr lang="ru-RU" sz="1800" dirty="0"/>
                        <a:t>. Устанавливается в 1, если результат предыдущей операции не уместился в приёмнике и произошёл перенос из старшего бита или если требуется заём (при вычитании). Иначе установлен в 0. Например, этот флаг будет установлен при </a:t>
                      </a:r>
                      <a:r>
                        <a:rPr lang="ru-RU" sz="1800" dirty="0" smtClean="0"/>
                        <a:t>переполнении.</a:t>
                      </a:r>
                      <a:endParaRPr lang="ru-RU" sz="1800" dirty="0"/>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140846">
                <a:tc>
                  <a:txBody>
                    <a:bodyPr/>
                    <a:lstStyle/>
                    <a:p>
                      <a:pPr algn="ctr"/>
                      <a:r>
                        <a:rPr lang="ru-RU" sz="1800"/>
                        <a:t>1</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ru-RU" sz="1800"/>
                        <a:t>1</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ru-RU" sz="1800"/>
                        <a:t>-</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ru-RU" sz="1800"/>
                        <a:t>Зарезервирован.</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1186304">
                <a:tc>
                  <a:txBody>
                    <a:bodyPr/>
                    <a:lstStyle/>
                    <a:p>
                      <a:pPr algn="ctr"/>
                      <a:r>
                        <a:rPr lang="ru-RU" sz="1800"/>
                        <a:t>2</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800"/>
                        <a:t>PF</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a:t>Parity Flag</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ru-RU" sz="1800" b="1"/>
                        <a:t>Флаг чётности</a:t>
                      </a:r>
                      <a:r>
                        <a:rPr lang="ru-RU" sz="1800"/>
                        <a:t>. Устанавливается в 1, если младший байт результата предыдущей команды содержит чётное количество битов, равных 1. Если количество единиц в младшем байте нечётное, то этот флаг равен 0.</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140846">
                <a:tc>
                  <a:txBody>
                    <a:bodyPr/>
                    <a:lstStyle/>
                    <a:p>
                      <a:pPr algn="ctr"/>
                      <a:r>
                        <a:rPr lang="ru-RU" sz="1800"/>
                        <a:t>3</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ru-RU" sz="1800"/>
                        <a:t>0</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ru-RU" sz="1800"/>
                        <a:t>-</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ru-RU" sz="1800" dirty="0"/>
                        <a:t>Зарезервирован.</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4071316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Описание флагов регистра </a:t>
            </a:r>
            <a:r>
              <a:rPr lang="en-US" b="1" dirty="0"/>
              <a:t>FLAGS</a:t>
            </a:r>
            <a:endParaRPr lang="ru-RU" dirty="0"/>
          </a:p>
        </p:txBody>
      </p:sp>
      <p:graphicFrame>
        <p:nvGraphicFramePr>
          <p:cNvPr id="4" name="Объект 3"/>
          <p:cNvGraphicFramePr>
            <a:graphicFrameLocks noGrp="1"/>
          </p:cNvGraphicFramePr>
          <p:nvPr>
            <p:ph idx="1"/>
            <p:extLst>
              <p:ext uri="{D42A27DB-BD31-4B8C-83A1-F6EECF244321}">
                <p14:modId xmlns:p14="http://schemas.microsoft.com/office/powerpoint/2010/main" val="3928450773"/>
              </p:ext>
            </p:extLst>
          </p:nvPr>
        </p:nvGraphicFramePr>
        <p:xfrm>
          <a:off x="889000" y="2537598"/>
          <a:ext cx="10312400" cy="3426646"/>
        </p:xfrm>
        <a:graphic>
          <a:graphicData uri="http://schemas.openxmlformats.org/drawingml/2006/table">
            <a:tbl>
              <a:tblPr/>
              <a:tblGrid>
                <a:gridCol w="965200"/>
                <a:gridCol w="1638300"/>
                <a:gridCol w="2006600"/>
                <a:gridCol w="5702300"/>
              </a:tblGrid>
              <a:tr h="2375166">
                <a:tc>
                  <a:txBody>
                    <a:bodyPr/>
                    <a:lstStyle/>
                    <a:p>
                      <a:pPr algn="ctr"/>
                      <a:r>
                        <a:rPr lang="ru-RU" sz="1800" dirty="0"/>
                        <a:t>4</a:t>
                      </a:r>
                    </a:p>
                  </a:txBody>
                  <a:tcPr marL="28741" marR="28741" marT="28741" marB="287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800"/>
                        <a:t>AF</a:t>
                      </a:r>
                    </a:p>
                  </a:txBody>
                  <a:tcPr marL="28741" marR="28741" marT="28741" marB="287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a:t>Auxiliary Carry Flag</a:t>
                      </a:r>
                    </a:p>
                  </a:txBody>
                  <a:tcPr marL="28741" marR="28741" marT="28741" marB="287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ru-RU" sz="1800" b="1"/>
                        <a:t>Вспомогательный флаг переноса</a:t>
                      </a:r>
                      <a:r>
                        <a:rPr lang="ru-RU" sz="1800"/>
                        <a:t> (или </a:t>
                      </a:r>
                      <a:r>
                        <a:rPr lang="ru-RU" sz="1800" b="1"/>
                        <a:t>флаг полупереноса</a:t>
                      </a:r>
                      <a:r>
                        <a:rPr lang="ru-RU" sz="1800"/>
                        <a:t>). Устанавливается в 1, если в результате предыдущей операции произошёл перенос (или заём) из третьего бита в четвёртый. Этот флаг используется автоматически командами двоично-десятичной коррекции.</a:t>
                      </a:r>
                    </a:p>
                  </a:txBody>
                  <a:tcPr marL="28741" marR="28741" marT="28741" marB="287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223031">
                <a:tc>
                  <a:txBody>
                    <a:bodyPr/>
                    <a:lstStyle/>
                    <a:p>
                      <a:pPr algn="ctr"/>
                      <a:r>
                        <a:rPr lang="ru-RU" sz="1800"/>
                        <a:t>5</a:t>
                      </a:r>
                    </a:p>
                  </a:txBody>
                  <a:tcPr marL="28741" marR="28741" marT="28741" marB="287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ru-RU" sz="1800"/>
                        <a:t>0</a:t>
                      </a:r>
                    </a:p>
                  </a:txBody>
                  <a:tcPr marL="28741" marR="28741" marT="28741" marB="287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ru-RU" sz="1800"/>
                        <a:t>-</a:t>
                      </a:r>
                    </a:p>
                  </a:txBody>
                  <a:tcPr marL="28741" marR="28741" marT="28741" marB="287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ru-RU" sz="1800"/>
                        <a:t>Зарезервирован.</a:t>
                      </a:r>
                    </a:p>
                  </a:txBody>
                  <a:tcPr marL="28741" marR="28741" marT="28741" marB="287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719678">
                <a:tc>
                  <a:txBody>
                    <a:bodyPr/>
                    <a:lstStyle/>
                    <a:p>
                      <a:pPr algn="ctr"/>
                      <a:r>
                        <a:rPr lang="ru-RU" sz="1800"/>
                        <a:t>6</a:t>
                      </a:r>
                    </a:p>
                  </a:txBody>
                  <a:tcPr marL="28741" marR="28741" marT="28741" marB="287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800"/>
                        <a:t>ZF</a:t>
                      </a:r>
                    </a:p>
                  </a:txBody>
                  <a:tcPr marL="28741" marR="28741" marT="28741" marB="287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a:t>Zero Flag</a:t>
                      </a:r>
                    </a:p>
                  </a:txBody>
                  <a:tcPr marL="28741" marR="28741" marT="28741" marB="287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ru-RU" sz="1800" b="1" dirty="0"/>
                        <a:t>Флаг нуля</a:t>
                      </a:r>
                      <a:r>
                        <a:rPr lang="ru-RU" sz="1800" dirty="0"/>
                        <a:t>. Устанавливается 1, если результат предыдущей команды равен 0.</a:t>
                      </a:r>
                    </a:p>
                  </a:txBody>
                  <a:tcPr marL="28741" marR="28741" marT="28741" marB="287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10956100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Описание флагов регистра </a:t>
            </a:r>
            <a:r>
              <a:rPr lang="en-US" b="1" dirty="0"/>
              <a:t>FLAGS</a:t>
            </a:r>
            <a:endParaRPr lang="ru-RU" dirty="0"/>
          </a:p>
        </p:txBody>
      </p:sp>
      <p:graphicFrame>
        <p:nvGraphicFramePr>
          <p:cNvPr id="5" name="Объект 4"/>
          <p:cNvGraphicFramePr>
            <a:graphicFrameLocks noGrp="1"/>
          </p:cNvGraphicFramePr>
          <p:nvPr>
            <p:ph idx="1"/>
            <p:extLst>
              <p:ext uri="{D42A27DB-BD31-4B8C-83A1-F6EECF244321}">
                <p14:modId xmlns:p14="http://schemas.microsoft.com/office/powerpoint/2010/main" val="1201833715"/>
              </p:ext>
            </p:extLst>
          </p:nvPr>
        </p:nvGraphicFramePr>
        <p:xfrm>
          <a:off x="1066800" y="2297202"/>
          <a:ext cx="10083800" cy="3945078"/>
        </p:xfrm>
        <a:graphic>
          <a:graphicData uri="http://schemas.openxmlformats.org/drawingml/2006/table">
            <a:tbl>
              <a:tblPr/>
              <a:tblGrid>
                <a:gridCol w="939800"/>
                <a:gridCol w="1549400"/>
                <a:gridCol w="2095500"/>
                <a:gridCol w="5499100"/>
              </a:tblGrid>
              <a:tr h="336111">
                <a:tc>
                  <a:txBody>
                    <a:bodyPr/>
                    <a:lstStyle/>
                    <a:p>
                      <a:pPr algn="ctr"/>
                      <a:r>
                        <a:rPr lang="ru-RU" sz="1800"/>
                        <a:t>7</a:t>
                      </a:r>
                    </a:p>
                  </a:txBody>
                  <a:tcPr marL="17433" marR="17433" marT="17433" marB="174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800"/>
                        <a:t>SF</a:t>
                      </a:r>
                    </a:p>
                  </a:txBody>
                  <a:tcPr marL="17433" marR="17433" marT="17433" marB="174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a:t>Sign Flag</a:t>
                      </a:r>
                    </a:p>
                  </a:txBody>
                  <a:tcPr marL="17433" marR="17433" marT="17433" marB="174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ru-RU" sz="1800" b="1"/>
                        <a:t>Флаг знака</a:t>
                      </a:r>
                      <a:r>
                        <a:rPr lang="ru-RU" sz="1800"/>
                        <a:t>. Этот флаг всегда равен старшему биту результата.</a:t>
                      </a:r>
                    </a:p>
                  </a:txBody>
                  <a:tcPr marL="17433" marR="17433" marT="17433" marB="174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1741919">
                <a:tc>
                  <a:txBody>
                    <a:bodyPr/>
                    <a:lstStyle/>
                    <a:p>
                      <a:pPr algn="ctr"/>
                      <a:r>
                        <a:rPr lang="ru-RU" sz="1800"/>
                        <a:t>8</a:t>
                      </a:r>
                    </a:p>
                  </a:txBody>
                  <a:tcPr marL="17433" marR="17433" marT="17433" marB="174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800"/>
                        <a:t>TF</a:t>
                      </a:r>
                    </a:p>
                  </a:txBody>
                  <a:tcPr marL="17433" marR="17433" marT="17433" marB="174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a:t>Trap Flag</a:t>
                      </a:r>
                    </a:p>
                  </a:txBody>
                  <a:tcPr marL="17433" marR="17433" marT="17433" marB="174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ru-RU" sz="1800" b="1"/>
                        <a:t>Флаг трассировки</a:t>
                      </a:r>
                      <a:r>
                        <a:rPr lang="ru-RU" sz="1800"/>
                        <a:t> (или </a:t>
                      </a:r>
                      <a:r>
                        <a:rPr lang="ru-RU" sz="1800" b="1"/>
                        <a:t>флаг ловушки</a:t>
                      </a:r>
                      <a:r>
                        <a:rPr lang="ru-RU" sz="1800"/>
                        <a:t>). Он был предусмотрен для работы отладчиков в пошаговом выполнении, которые не используют защищённый режим. Если этот флаг установить в 1, то после выполнения каждой программной команды управление временно передаётся отладчику (вызывается прерывание 1).</a:t>
                      </a:r>
                    </a:p>
                  </a:txBody>
                  <a:tcPr marL="17433" marR="17433" marT="17433" marB="174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1239845">
                <a:tc>
                  <a:txBody>
                    <a:bodyPr/>
                    <a:lstStyle/>
                    <a:p>
                      <a:pPr algn="ctr"/>
                      <a:r>
                        <a:rPr lang="ru-RU" sz="1800"/>
                        <a:t>9</a:t>
                      </a:r>
                    </a:p>
                  </a:txBody>
                  <a:tcPr marL="17433" marR="17433" marT="17433" marB="174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800"/>
                        <a:t>IF</a:t>
                      </a:r>
                    </a:p>
                  </a:txBody>
                  <a:tcPr marL="17433" marR="17433" marT="17433" marB="174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a:t>Interrupt Enable Flag</a:t>
                      </a:r>
                    </a:p>
                  </a:txBody>
                  <a:tcPr marL="17433" marR="17433" marT="17433" marB="174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ru-RU" sz="1800" b="1" dirty="0"/>
                        <a:t>Флаг разрешения прерываний</a:t>
                      </a:r>
                      <a:r>
                        <a:rPr lang="ru-RU" sz="1800" dirty="0"/>
                        <a:t>. Если сбросить этот флаг в 0, то процессор перестанет обрабатывать прерывания от внешних устройств. Обычно его сбрасывают на короткое время для выполнения критических участков программы.</a:t>
                      </a:r>
                    </a:p>
                  </a:txBody>
                  <a:tcPr marL="17433" marR="17433" marT="17433" marB="174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9221391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Описание флагов регистра </a:t>
            </a:r>
            <a:r>
              <a:rPr lang="en-US" b="1" dirty="0"/>
              <a:t>FLAGS</a:t>
            </a:r>
            <a:endParaRPr lang="ru-RU" dirty="0"/>
          </a:p>
        </p:txBody>
      </p:sp>
      <p:graphicFrame>
        <p:nvGraphicFramePr>
          <p:cNvPr id="4" name="Объект 3"/>
          <p:cNvGraphicFramePr>
            <a:graphicFrameLocks noGrp="1"/>
          </p:cNvGraphicFramePr>
          <p:nvPr>
            <p:ph idx="1"/>
            <p:extLst>
              <p:ext uri="{D42A27DB-BD31-4B8C-83A1-F6EECF244321}">
                <p14:modId xmlns:p14="http://schemas.microsoft.com/office/powerpoint/2010/main" val="98020007"/>
              </p:ext>
            </p:extLst>
          </p:nvPr>
        </p:nvGraphicFramePr>
        <p:xfrm>
          <a:off x="1054098" y="2103811"/>
          <a:ext cx="10172704" cy="4048792"/>
        </p:xfrm>
        <a:graphic>
          <a:graphicData uri="http://schemas.openxmlformats.org/drawingml/2006/table">
            <a:tbl>
              <a:tblPr/>
              <a:tblGrid>
                <a:gridCol w="901702"/>
                <a:gridCol w="1320800"/>
                <a:gridCol w="1879600"/>
                <a:gridCol w="6070602"/>
              </a:tblGrid>
              <a:tr h="977212">
                <a:tc>
                  <a:txBody>
                    <a:bodyPr/>
                    <a:lstStyle/>
                    <a:p>
                      <a:pPr algn="ctr"/>
                      <a:r>
                        <a:rPr lang="ru-RU" sz="1800"/>
                        <a:t>10</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800"/>
                        <a:t>DF</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a:t>Direction Flag</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ru-RU" sz="1800" b="1"/>
                        <a:t>Флаг направления</a:t>
                      </a:r>
                      <a:r>
                        <a:rPr lang="ru-RU" sz="1800"/>
                        <a:t>. Контролирует поведение команд обработки строк. Если установлен в 1, то строки обрабатываются в сторону уменьшения адресов, если сброшен в 0, то наоборот.</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1709032">
                <a:tc>
                  <a:txBody>
                    <a:bodyPr/>
                    <a:lstStyle/>
                    <a:p>
                      <a:pPr algn="ctr"/>
                      <a:r>
                        <a:rPr lang="ru-RU" sz="1800"/>
                        <a:t>11</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800"/>
                        <a:t>OF</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a:t>Overflow Flag</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ru-RU" sz="1800" b="1"/>
                        <a:t>Флаг переполнения</a:t>
                      </a:r>
                      <a:r>
                        <a:rPr lang="ru-RU" sz="1800"/>
                        <a:t>. Устанавливается в 1, если результат предыдущей арифметической операции над числами со знаком выходит за допустимые для них пределы. Например, если при сложении двух положительных чисел получается число со старшим битом, равным единице, то есть отрицательное. И наоборот.</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245392">
                <a:tc>
                  <a:txBody>
                    <a:bodyPr/>
                    <a:lstStyle/>
                    <a:p>
                      <a:pPr algn="ctr"/>
                      <a:r>
                        <a:rPr lang="ru-RU" sz="1800"/>
                        <a:t>12</a:t>
                      </a:r>
                      <a:br>
                        <a:rPr lang="ru-RU" sz="1800"/>
                      </a:br>
                      <a:r>
                        <a:rPr lang="ru-RU" sz="1800"/>
                        <a:t>13</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800"/>
                        <a:t>IOPL</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a:t>I/O Privilege Level</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ru-RU" sz="1800"/>
                        <a:t>Уровень приоритета ввода/вывода.</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245392">
                <a:tc>
                  <a:txBody>
                    <a:bodyPr/>
                    <a:lstStyle/>
                    <a:p>
                      <a:pPr algn="ctr"/>
                      <a:r>
                        <a:rPr lang="ru-RU" sz="1800"/>
                        <a:t>14</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800"/>
                        <a:t>NT</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a:t>Nested Task</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ru-RU" sz="1800"/>
                        <a:t>Флаг вложенности задач.</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140846">
                <a:tc>
                  <a:txBody>
                    <a:bodyPr/>
                    <a:lstStyle/>
                    <a:p>
                      <a:pPr algn="ctr"/>
                      <a:r>
                        <a:rPr lang="ru-RU" sz="1800"/>
                        <a:t>15</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ru-RU" sz="1800"/>
                        <a:t>0</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ru-RU" sz="1800"/>
                        <a:t>-</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ru-RU" sz="1800" dirty="0"/>
                        <a:t>Зарезервирован.</a:t>
                      </a:r>
                    </a:p>
                  </a:txBody>
                  <a:tcPr marL="18150" marR="18150" marT="18150" marB="18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42136355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a:t>Редактирование флагов</a:t>
            </a:r>
            <a:endParaRPr lang="ru-RU" b="1" dirty="0"/>
          </a:p>
        </p:txBody>
      </p:sp>
      <p:sp>
        <p:nvSpPr>
          <p:cNvPr id="3" name="Объект 2"/>
          <p:cNvSpPr>
            <a:spLocks noGrp="1"/>
          </p:cNvSpPr>
          <p:nvPr>
            <p:ph idx="1"/>
          </p:nvPr>
        </p:nvSpPr>
        <p:spPr>
          <a:xfrm>
            <a:off x="787400" y="2451100"/>
            <a:ext cx="10629899" cy="3695700"/>
          </a:xfrm>
        </p:spPr>
        <p:txBody>
          <a:bodyPr>
            <a:noAutofit/>
          </a:bodyPr>
          <a:lstStyle/>
          <a:p>
            <a:pPr>
              <a:lnSpc>
                <a:spcPct val="130000"/>
              </a:lnSpc>
              <a:spcBef>
                <a:spcPts val="0"/>
              </a:spcBef>
            </a:pPr>
            <a:r>
              <a:rPr lang="ru-RU" sz="2000" dirty="0"/>
              <a:t>Большинство из флагов одноимённого регистра нельзя изменять напрямую, т.к. флаги просто показывают нам состояние процессора в текущий момент. Но есть 3 флага, которые программист может менять, в зависимости от поставленной задачи. Это флаги: CF, DF и IF. У них нет операндов и результатом является только изменение значения соответствующего флага:</a:t>
            </a:r>
            <a:r>
              <a:rPr lang="ru-RU" sz="1800" dirty="0"/>
              <a:t> </a:t>
            </a:r>
            <a:r>
              <a:rPr lang="ru-RU" sz="1800" dirty="0"/>
              <a:t/>
            </a:r>
            <a:br>
              <a:rPr lang="ru-RU" sz="1800" dirty="0"/>
            </a:br>
            <a:r>
              <a:rPr lang="ru-RU" sz="400" dirty="0"/>
              <a:t/>
            </a:r>
            <a:br>
              <a:rPr lang="ru-RU" sz="400" dirty="0"/>
            </a:br>
            <a:r>
              <a:rPr lang="ru-RU" sz="2000" dirty="0"/>
              <a:t>Флаг </a:t>
            </a:r>
            <a:r>
              <a:rPr lang="ru-RU" sz="2000" b="1" dirty="0"/>
              <a:t>CF</a:t>
            </a:r>
            <a:r>
              <a:rPr lang="ru-RU" sz="2000" dirty="0"/>
              <a:t> - CLC сбрасывает, STC устанавливает, CMC инвертирует значение флага CF</a:t>
            </a:r>
            <a:r>
              <a:rPr lang="ru-RU" sz="2000" dirty="0" smtClean="0"/>
              <a:t>.</a:t>
            </a:r>
            <a:r>
              <a:rPr lang="ru-RU" sz="2000" dirty="0"/>
              <a:t/>
            </a:r>
            <a:br>
              <a:rPr lang="ru-RU" sz="2000" dirty="0"/>
            </a:br>
            <a:r>
              <a:rPr lang="ru-RU" sz="2000" dirty="0"/>
              <a:t>Флаг </a:t>
            </a:r>
            <a:r>
              <a:rPr lang="ru-RU" sz="2000" b="1" dirty="0"/>
              <a:t>DF</a:t>
            </a:r>
            <a:r>
              <a:rPr lang="ru-RU" sz="2000" dirty="0"/>
              <a:t> - CLD сбрасывает, STD устанавливает флаг DF в единицу.</a:t>
            </a:r>
            <a:r>
              <a:rPr lang="ru-RU" sz="2000" dirty="0"/>
              <a:t/>
            </a:r>
            <a:br>
              <a:rPr lang="ru-RU" sz="2000" dirty="0"/>
            </a:br>
            <a:r>
              <a:rPr lang="ru-RU" sz="2000" dirty="0"/>
              <a:t>Флаг </a:t>
            </a:r>
            <a:r>
              <a:rPr lang="ru-RU" sz="2000" b="1" dirty="0"/>
              <a:t>IF</a:t>
            </a:r>
            <a:r>
              <a:rPr lang="ru-RU" sz="2000" dirty="0"/>
              <a:t> - CLI сбрасывает, STI устанавливает флаг IF в единицу (разрешает прерывания).</a:t>
            </a:r>
            <a:endParaRPr lang="ru-RU" sz="2000" dirty="0"/>
          </a:p>
        </p:txBody>
      </p:sp>
    </p:spTree>
    <p:extLst>
      <p:ext uri="{BB962C8B-B14F-4D97-AF65-F5344CB8AC3E}">
        <p14:creationId xmlns:p14="http://schemas.microsoft.com/office/powerpoint/2010/main" val="290568487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Натуральные материалы">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289</TotalTime>
  <Words>729</Words>
  <Application>Microsoft Office PowerPoint</Application>
  <PresentationFormat>Широкоэкранный</PresentationFormat>
  <Paragraphs>123</Paragraphs>
  <Slides>8</Slides>
  <Notes>5</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8</vt:i4>
      </vt:variant>
    </vt:vector>
  </HeadingPairs>
  <TitlesOfParts>
    <vt:vector size="13" baseType="lpstr">
      <vt:lpstr>Arial</vt:lpstr>
      <vt:lpstr>Calibri</vt:lpstr>
      <vt:lpstr>Garamond</vt:lpstr>
      <vt:lpstr>Verdana</vt:lpstr>
      <vt:lpstr>Натуральные материалы</vt:lpstr>
      <vt:lpstr>Регистр флагов </vt:lpstr>
      <vt:lpstr>Регистр флагов</vt:lpstr>
      <vt:lpstr>Регистр флагов FLAGS</vt:lpstr>
      <vt:lpstr>Описание флагов регистра FLAGS</vt:lpstr>
      <vt:lpstr>Описание флагов регистра FLAGS</vt:lpstr>
      <vt:lpstr>Описание флагов регистра FLAGS</vt:lpstr>
      <vt:lpstr>Описание флагов регистра FLAGS</vt:lpstr>
      <vt:lpstr>Редактирование флагов</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Регистр флагов</dc:title>
  <dc:creator>Преподаватель Кронштадский б-р,37</dc:creator>
  <cp:lastModifiedBy>Преподаватель Кронштадский б-р,37</cp:lastModifiedBy>
  <cp:revision>5</cp:revision>
  <dcterms:created xsi:type="dcterms:W3CDTF">2019-02-28T07:04:53Z</dcterms:created>
  <dcterms:modified xsi:type="dcterms:W3CDTF">2019-02-28T11:54:22Z</dcterms:modified>
</cp:coreProperties>
</file>