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8" r:id="rId11"/>
    <p:sldId id="260" r:id="rId12"/>
    <p:sldId id="25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53B2D-9695-4FDE-99CD-7E1D9F98A983}" type="datetimeFigureOut">
              <a:rPr lang="ru-RU" smtClean="0"/>
              <a:t>08.02.2021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D2E34D-4A44-41A9-B5FA-7AEEBB18D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312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при первом проходе программы мы пропускаем участок кода 1 и сразу переходим к метке Label_2 (то есть ко второму участку). Но во втором участке мы возвращаемся к участку 1 (к метке Label_1) и выполняем его.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второй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может быть так, что какой-то участок кода требуется только для отладки.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D2E34D-4A44-41A9-B5FA-7AEEBB18D75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48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u="sng" dirty="0"/>
              <a:t>Циклы и </a:t>
            </a:r>
            <a:r>
              <a:rPr lang="ru-RU" u="sng" dirty="0" smtClean="0"/>
              <a:t>команд</a:t>
            </a:r>
            <a:r>
              <a:rPr lang="ru-RU" u="sng" dirty="0"/>
              <a:t>ы</a:t>
            </a:r>
            <a:r>
              <a:rPr lang="ru-RU" u="sng" dirty="0" smtClean="0"/>
              <a:t> перехода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Пестов А.И.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909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Синтаксис объявления меток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2" y="2471842"/>
            <a:ext cx="9601196" cy="387815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Метка представляет собой символическое имя, вместо которого компилятор подставляет адрес</a:t>
            </a:r>
            <a:r>
              <a:rPr lang="ru-RU" dirty="0" smtClean="0"/>
              <a:t>.</a:t>
            </a:r>
          </a:p>
          <a:p>
            <a:r>
              <a:rPr lang="ru-RU" altLang="ru-RU" dirty="0">
                <a:solidFill>
                  <a:srgbClr val="202020"/>
                </a:solidFill>
                <a:cs typeface="Arial" panose="020B0604020202020204" pitchFamily="34" charset="0"/>
              </a:rPr>
              <a:t>Метка объявляется очень просто: достаточно в начале строки написать имя и поставить двоеточие. Например</a:t>
            </a:r>
            <a:r>
              <a:rPr lang="ru-RU" altLang="ru-RU" dirty="0" smtClean="0">
                <a:solidFill>
                  <a:srgbClr val="202020"/>
                </a:solidFill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pt-BR" dirty="0"/>
              <a:t>m1</a:t>
            </a:r>
            <a:r>
              <a:rPr lang="pt-BR" dirty="0">
                <a:solidFill>
                  <a:srgbClr val="339933"/>
                </a:solidFill>
              </a:rPr>
              <a:t>:</a:t>
            </a:r>
            <a:r>
              <a:rPr lang="pt-BR" dirty="0"/>
              <a:t> </a:t>
            </a:r>
            <a:r>
              <a:rPr lang="pt-BR" b="1" dirty="0">
                <a:solidFill>
                  <a:srgbClr val="000000"/>
                </a:solidFill>
              </a:rPr>
              <a:t>mov</a:t>
            </a:r>
            <a:r>
              <a:rPr lang="pt-BR" dirty="0"/>
              <a:t> </a:t>
            </a:r>
            <a:r>
              <a:rPr lang="pt-BR" b="1" dirty="0">
                <a:solidFill>
                  <a:srgbClr val="000000"/>
                </a:solidFill>
              </a:rPr>
              <a:t>ax</a:t>
            </a:r>
            <a:r>
              <a:rPr lang="pt-BR" dirty="0">
                <a:solidFill>
                  <a:srgbClr val="339933"/>
                </a:solidFill>
              </a:rPr>
              <a:t>,</a:t>
            </a:r>
            <a:r>
              <a:rPr lang="pt-BR" dirty="0">
                <a:solidFill>
                  <a:srgbClr val="009000"/>
                </a:solidFill>
              </a:rPr>
              <a:t>4C00h</a:t>
            </a:r>
            <a:r>
              <a:rPr lang="pt-BR" dirty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ru-RU" b="1" dirty="0" smtClean="0">
                <a:solidFill>
                  <a:srgbClr val="000000"/>
                </a:solidFill>
              </a:rPr>
              <a:t>	</a:t>
            </a:r>
            <a:r>
              <a:rPr lang="pt-BR" b="1" dirty="0" smtClean="0">
                <a:solidFill>
                  <a:srgbClr val="000000"/>
                </a:solidFill>
              </a:rPr>
              <a:t>int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009000"/>
                </a:solidFill>
              </a:rPr>
              <a:t>21h</a:t>
            </a:r>
            <a:endParaRPr lang="ru-RU" dirty="0" smtClean="0">
              <a:solidFill>
                <a:srgbClr val="0090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rgbClr val="202020"/>
                </a:solidFill>
                <a:cs typeface="Arial" panose="020B0604020202020204" pitchFamily="34" charset="0"/>
              </a:rPr>
              <a:t>Теперь вместо имени </a:t>
            </a:r>
            <a:r>
              <a:rPr lang="ru-RU" altLang="ru-RU" i="1" dirty="0">
                <a:solidFill>
                  <a:srgbClr val="202020"/>
                </a:solidFill>
                <a:cs typeface="Arial" panose="020B0604020202020204" pitchFamily="34" charset="0"/>
              </a:rPr>
              <a:t>m1</a:t>
            </a:r>
            <a:r>
              <a:rPr lang="ru-RU" altLang="ru-RU" dirty="0">
                <a:solidFill>
                  <a:srgbClr val="202020"/>
                </a:solidFill>
                <a:cs typeface="Arial" panose="020B0604020202020204" pitchFamily="34" charset="0"/>
              </a:rPr>
              <a:t> компилятор везде будет подставлять адрес </a:t>
            </a:r>
            <a:r>
              <a:rPr lang="ru-RU" altLang="ru-RU" dirty="0" err="1">
                <a:solidFill>
                  <a:srgbClr val="202020"/>
                </a:solidFill>
                <a:cs typeface="Arial" panose="020B0604020202020204" pitchFamily="34" charset="0"/>
              </a:rPr>
              <a:t>комады</a:t>
            </a:r>
            <a:r>
              <a:rPr lang="ru-RU" altLang="ru-RU" dirty="0">
                <a:solidFill>
                  <a:srgbClr val="202020"/>
                </a:solidFill>
                <a:cs typeface="Arial" panose="020B0604020202020204" pitchFamily="34" charset="0"/>
              </a:rPr>
              <a:t> </a:t>
            </a:r>
            <a:r>
              <a:rPr lang="ru-RU" altLang="ru-RU" i="1" dirty="0" err="1">
                <a:solidFill>
                  <a:srgbClr val="202020"/>
                </a:solidFill>
                <a:cs typeface="Arial" panose="020B0604020202020204" pitchFamily="34" charset="0"/>
              </a:rPr>
              <a:t>mov</a:t>
            </a:r>
            <a:r>
              <a:rPr lang="ru-RU" altLang="ru-RU" i="1" dirty="0">
                <a:solidFill>
                  <a:srgbClr val="202020"/>
                </a:solidFill>
                <a:cs typeface="Arial" panose="020B0604020202020204" pitchFamily="34" charset="0"/>
              </a:rPr>
              <a:t> ax,4C00h</a:t>
            </a:r>
            <a:r>
              <a:rPr lang="ru-RU" altLang="ru-RU" dirty="0">
                <a:solidFill>
                  <a:srgbClr val="202020"/>
                </a:solidFill>
                <a:cs typeface="Arial" panose="020B0604020202020204" pitchFamily="34" charset="0"/>
              </a:rPr>
              <a:t>. Можно объявлять метку на пустой строке перед командой</a:t>
            </a:r>
            <a:r>
              <a:rPr lang="ru-RU" altLang="ru-RU" dirty="0" smtClean="0">
                <a:solidFill>
                  <a:srgbClr val="202020"/>
                </a:solidFill>
                <a:cs typeface="Arial" panose="020B0604020202020204" pitchFamily="34" charset="0"/>
              </a:rPr>
              <a:t>:</a:t>
            </a:r>
            <a:endParaRPr lang="en-US" altLang="ru-RU" dirty="0" smtClean="0">
              <a:solidFill>
                <a:srgbClr val="202020"/>
              </a:solidFill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 smtClean="0">
              <a:solidFill>
                <a:srgbClr val="202020"/>
              </a:solidFill>
              <a:cs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dirty="0"/>
              <a:t>exit_app</a:t>
            </a:r>
            <a:r>
              <a:rPr lang="pt-BR" dirty="0">
                <a:solidFill>
                  <a:srgbClr val="339933"/>
                </a:solidFill>
              </a:rPr>
              <a:t>:</a:t>
            </a:r>
            <a:r>
              <a:rPr lang="pt-BR" dirty="0"/>
              <a:t> </a:t>
            </a:r>
            <a:endParaRPr lang="ru-RU" dirty="0" smtClean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b="1" dirty="0" smtClean="0">
                <a:solidFill>
                  <a:srgbClr val="000000"/>
                </a:solidFill>
              </a:rPr>
              <a:t>	</a:t>
            </a:r>
            <a:r>
              <a:rPr lang="pt-BR" b="1" dirty="0" smtClean="0">
                <a:solidFill>
                  <a:srgbClr val="000000"/>
                </a:solidFill>
              </a:rPr>
              <a:t>mov</a:t>
            </a:r>
            <a:r>
              <a:rPr lang="pt-BR" dirty="0" smtClean="0"/>
              <a:t> </a:t>
            </a:r>
            <a:r>
              <a:rPr lang="pt-BR" b="1" dirty="0" smtClean="0">
                <a:solidFill>
                  <a:srgbClr val="000000"/>
                </a:solidFill>
              </a:rPr>
              <a:t>ax</a:t>
            </a:r>
            <a:r>
              <a:rPr lang="pt-BR" dirty="0" smtClean="0">
                <a:solidFill>
                  <a:srgbClr val="339933"/>
                </a:solidFill>
              </a:rPr>
              <a:t>,</a:t>
            </a:r>
            <a:r>
              <a:rPr lang="pt-BR" dirty="0" smtClean="0">
                <a:solidFill>
                  <a:srgbClr val="009000"/>
                </a:solidFill>
              </a:rPr>
              <a:t>4C00h</a:t>
            </a:r>
            <a:r>
              <a:rPr lang="pt-BR" dirty="0" smtClean="0"/>
              <a:t> </a:t>
            </a:r>
            <a:endParaRPr lang="ru-RU" dirty="0" smtClean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b="1" dirty="0" smtClean="0">
                <a:solidFill>
                  <a:srgbClr val="000000"/>
                </a:solidFill>
              </a:rPr>
              <a:t>	</a:t>
            </a:r>
            <a:r>
              <a:rPr lang="pt-BR" b="1" dirty="0" smtClean="0">
                <a:solidFill>
                  <a:srgbClr val="000000"/>
                </a:solidFill>
              </a:rPr>
              <a:t>int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009000"/>
                </a:solidFill>
              </a:rPr>
              <a:t>21h</a:t>
            </a:r>
            <a:endParaRPr lang="pt-BR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 dirty="0"/>
          </a:p>
          <a:p>
            <a:endParaRPr lang="ru-RU" altLang="ru-RU" dirty="0">
              <a:solidFill>
                <a:schemeClr val="tx1"/>
              </a:solidFill>
            </a:endParaRP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457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Безусловные </a:t>
            </a:r>
            <a:r>
              <a:rPr lang="ru-RU" b="1" dirty="0" smtClean="0"/>
              <a:t>переходы</a:t>
            </a:r>
            <a:r>
              <a:rPr lang="en-US" b="1" dirty="0" smtClean="0"/>
              <a:t>. </a:t>
            </a:r>
            <a:r>
              <a:rPr lang="ru-RU" b="1" dirty="0" smtClean="0"/>
              <a:t>Команда </a:t>
            </a:r>
            <a:r>
              <a:rPr lang="en-US" b="1" dirty="0"/>
              <a:t>JMP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589480"/>
            <a:ext cx="751840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Команда JMP - это команда безусловного перехода в Ассемблере.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Выполняет, соответственно, безусловный переход в указанное место.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Синтаксис команды JMP такой: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JMP МЕТКА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95402" y="4216400"/>
            <a:ext cx="430529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	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JMP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Label_2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</a:rPr>
              <a:t>Label_1: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	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--- Участок кода 1 ---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Label_2: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; Это МЕТКА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	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--- Участок кода 2 ---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	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JMP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</a:rPr>
              <a:t>Label_1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97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Условные переходы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Условный переход осуществляется, если выполняется определённое условие, заданное флагами </a:t>
            </a:r>
            <a:r>
              <a:rPr lang="ru-RU" dirty="0" smtClean="0"/>
              <a:t>процессора. </a:t>
            </a:r>
            <a:r>
              <a:rPr lang="ru-RU" dirty="0"/>
              <a:t>Как вы помните, состояние флагов изменяется после выполнения арифметических, логических и некоторых других команд. Если условие не выполняется, то управление переходит к следующей команде.</a:t>
            </a:r>
          </a:p>
        </p:txBody>
      </p:sp>
    </p:spTree>
    <p:extLst>
      <p:ext uri="{BB962C8B-B14F-4D97-AF65-F5344CB8AC3E}">
        <p14:creationId xmlns:p14="http://schemas.microsoft.com/office/powerpoint/2010/main" val="346817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</a:t>
            </a:r>
            <a:r>
              <a:rPr lang="ru-RU" b="1" dirty="0" smtClean="0"/>
              <a:t>Команды </a:t>
            </a:r>
            <a:r>
              <a:rPr lang="ru-RU" b="1" dirty="0"/>
              <a:t>для различных условных переходов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5386"/>
              </p:ext>
            </p:extLst>
          </p:nvPr>
        </p:nvGraphicFramePr>
        <p:xfrm>
          <a:off x="1854198" y="2508080"/>
          <a:ext cx="8877301" cy="3626019"/>
        </p:xfrm>
        <a:graphic>
          <a:graphicData uri="http://schemas.openxmlformats.org/drawingml/2006/table">
            <a:tbl>
              <a:tblPr/>
              <a:tblGrid>
                <a:gridCol w="1739902"/>
                <a:gridCol w="5003800"/>
                <a:gridCol w="2133599"/>
              </a:tblGrid>
              <a:tr h="402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b="1" dirty="0"/>
                        <a:t>Команда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b="1" dirty="0"/>
                        <a:t>Переход, если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b="1" dirty="0"/>
                        <a:t>Условие перехода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402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JZ/JE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dirty="0"/>
                        <a:t>нуль или равно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ZF=1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402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JNZ/JNE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dirty="0"/>
                        <a:t>не нуль или не равно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ZF=0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402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JC/JNAE/JB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есть переполнение/не выше и не равно/ниже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CF=1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402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JNC/JAE/JNB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нет переполнения/выше или равно/не ниже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CF=0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402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JP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число единичных бит чётное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PF=1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402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JNP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число единичных бит нечётное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PF=0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402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JS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знак равен 1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SF=1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402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JNS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знак равен 0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SF=0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43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</a:t>
            </a:r>
            <a:r>
              <a:rPr lang="ru-RU" b="1" dirty="0" smtClean="0"/>
              <a:t>Команды </a:t>
            </a:r>
            <a:r>
              <a:rPr lang="ru-RU" b="1" dirty="0"/>
              <a:t>для различных условных переходов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375228"/>
              </p:ext>
            </p:extLst>
          </p:nvPr>
        </p:nvGraphicFramePr>
        <p:xfrm>
          <a:off x="1549398" y="2508079"/>
          <a:ext cx="9093201" cy="3714920"/>
        </p:xfrm>
        <a:graphic>
          <a:graphicData uri="http://schemas.openxmlformats.org/drawingml/2006/table">
            <a:tbl>
              <a:tblPr/>
              <a:tblGrid>
                <a:gridCol w="1651002"/>
                <a:gridCol w="5384800"/>
                <a:gridCol w="2057399"/>
              </a:tblGrid>
              <a:tr h="371492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b="1" dirty="0"/>
                        <a:t>Команда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b="1" dirty="0"/>
                        <a:t>Переход, если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b="1" dirty="0"/>
                        <a:t>Условие перехода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3714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JO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dirty="0"/>
                        <a:t>есть переполнение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OF=1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3714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JNO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нет переполнения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OF=0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3714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JA/JNBE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выше/не ниже и не равно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CF=0 </a:t>
                      </a:r>
                      <a:r>
                        <a:rPr lang="ru-RU" sz="2000"/>
                        <a:t>и </a:t>
                      </a:r>
                      <a:r>
                        <a:rPr lang="en-US" sz="2000"/>
                        <a:t>ZF=0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3714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JNA/JBE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не выше/ниже или равно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CF=1 </a:t>
                      </a:r>
                      <a:r>
                        <a:rPr lang="ru-RU" sz="2000"/>
                        <a:t>или </a:t>
                      </a:r>
                      <a:r>
                        <a:rPr lang="en-US" sz="2000"/>
                        <a:t>ZF=1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3714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JG/JNLE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больше/не меньше и не равно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ZF=0 </a:t>
                      </a:r>
                      <a:r>
                        <a:rPr lang="ru-RU" sz="2000"/>
                        <a:t>и </a:t>
                      </a:r>
                      <a:r>
                        <a:rPr lang="en-US" sz="2000"/>
                        <a:t>SF=OF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3714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JGE/JNL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больше или равно/не меньше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SF=OF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3714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JL/JNGE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 dirty="0"/>
                        <a:t>меньше/не больше и не равно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SF≠OF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3714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JLE/JNG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меньше или равно/не больше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ZF=1 </a:t>
                      </a:r>
                      <a:r>
                        <a:rPr lang="ru-RU" sz="2000"/>
                        <a:t>или </a:t>
                      </a:r>
                      <a:r>
                        <a:rPr lang="en-US" sz="2000"/>
                        <a:t>SF≠OF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  <a:tr h="3714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/>
                        <a:t>JCXZ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2000"/>
                        <a:t>содержимое </a:t>
                      </a:r>
                      <a:r>
                        <a:rPr lang="en-US" sz="2000"/>
                        <a:t>CX </a:t>
                      </a:r>
                      <a:r>
                        <a:rPr lang="ru-RU" sz="2000"/>
                        <a:t>равно нулю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/>
                        <a:t>CX=0</a:t>
                      </a:r>
                    </a:p>
                  </a:txBody>
                  <a:tcPr marL="10240" marR="10240" marT="10240" marB="10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E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3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Особенности применения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70416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У всех этих команд один операнд — имя метки для перехода. </a:t>
            </a:r>
            <a:endParaRPr lang="ru-RU" dirty="0" smtClean="0"/>
          </a:p>
          <a:p>
            <a:pPr algn="just"/>
            <a:r>
              <a:rPr lang="ru-RU" dirty="0" smtClean="0"/>
              <a:t>Обратите </a:t>
            </a:r>
            <a:r>
              <a:rPr lang="ru-RU" dirty="0"/>
              <a:t>внимание, что некоторые команды применяются для </a:t>
            </a:r>
            <a:r>
              <a:rPr lang="ru-RU" dirty="0" err="1"/>
              <a:t>беззнаковых</a:t>
            </a:r>
            <a:r>
              <a:rPr lang="ru-RU" dirty="0"/>
              <a:t> чисел, а другие — для чисел со знаком. </a:t>
            </a:r>
            <a:endParaRPr lang="ru-RU" dirty="0" smtClean="0"/>
          </a:p>
          <a:p>
            <a:pPr algn="just"/>
            <a:r>
              <a:rPr lang="ru-RU" dirty="0" smtClean="0"/>
              <a:t>Сравнения </a:t>
            </a:r>
            <a:r>
              <a:rPr lang="ru-RU" dirty="0"/>
              <a:t>«выше» и «ниже» относятся к </a:t>
            </a:r>
            <a:r>
              <a:rPr lang="ru-RU" dirty="0" err="1"/>
              <a:t>беззнаковым</a:t>
            </a:r>
            <a:r>
              <a:rPr lang="ru-RU" dirty="0"/>
              <a:t> числам, а «больше» и «меньше» — к числам со знаком. </a:t>
            </a:r>
            <a:endParaRPr lang="ru-RU" dirty="0" smtClean="0"/>
          </a:p>
          <a:p>
            <a:pPr algn="just"/>
            <a:r>
              <a:rPr lang="ru-RU" dirty="0" smtClean="0"/>
              <a:t>Для </a:t>
            </a:r>
            <a:r>
              <a:rPr lang="ru-RU" dirty="0" err="1"/>
              <a:t>беззнаковых</a:t>
            </a:r>
            <a:r>
              <a:rPr lang="ru-RU" dirty="0"/>
              <a:t> чисел признаком переполнения будет флаг </a:t>
            </a:r>
            <a:r>
              <a:rPr lang="ru-RU" b="1" dirty="0"/>
              <a:t>CF</a:t>
            </a:r>
            <a:r>
              <a:rPr lang="ru-RU" dirty="0"/>
              <a:t>, а соответствующими командами перехода </a:t>
            </a:r>
            <a:r>
              <a:rPr lang="ru-RU" b="1" dirty="0"/>
              <a:t>JC</a:t>
            </a:r>
            <a:r>
              <a:rPr lang="ru-RU" dirty="0"/>
              <a:t> и </a:t>
            </a:r>
            <a:r>
              <a:rPr lang="ru-RU" b="1" dirty="0"/>
              <a:t>JNC</a:t>
            </a:r>
            <a:r>
              <a:rPr lang="ru-RU" dirty="0"/>
              <a:t>. Для чисел со знаком о переполнении можно судить по состоянию флага </a:t>
            </a:r>
            <a:r>
              <a:rPr lang="ru-RU" b="1" dirty="0"/>
              <a:t>OF</a:t>
            </a:r>
            <a:r>
              <a:rPr lang="ru-RU" dirty="0"/>
              <a:t>, поэтому им соответствуют команды перехода </a:t>
            </a:r>
            <a:r>
              <a:rPr lang="ru-RU" b="1" dirty="0"/>
              <a:t>JO</a:t>
            </a:r>
            <a:r>
              <a:rPr lang="ru-RU" dirty="0"/>
              <a:t> и </a:t>
            </a:r>
            <a:r>
              <a:rPr lang="ru-RU" b="1" dirty="0"/>
              <a:t>JNO</a:t>
            </a:r>
            <a:r>
              <a:rPr lang="ru-RU" dirty="0"/>
              <a:t>. Команды переходов не изменяют значения флагов.</a:t>
            </a:r>
          </a:p>
        </p:txBody>
      </p:sp>
    </p:spTree>
    <p:extLst>
      <p:ext uri="{BB962C8B-B14F-4D97-AF65-F5344CB8AC3E}">
        <p14:creationId xmlns:p14="http://schemas.microsoft.com/office/powerpoint/2010/main" val="189657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Команды </a:t>
            </a:r>
            <a:r>
              <a:rPr lang="en-US" b="1" dirty="0"/>
              <a:t>CMP </a:t>
            </a:r>
            <a:r>
              <a:rPr lang="ru-RU" b="1" dirty="0"/>
              <a:t>и </a:t>
            </a:r>
            <a:r>
              <a:rPr lang="en-US" b="1" dirty="0"/>
              <a:t>TEST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228176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Часто для формирования условий переходов используются команды </a:t>
            </a:r>
            <a:r>
              <a:rPr lang="ru-RU" b="1" dirty="0"/>
              <a:t>CMP</a:t>
            </a:r>
            <a:r>
              <a:rPr lang="ru-RU" dirty="0"/>
              <a:t> и </a:t>
            </a:r>
            <a:r>
              <a:rPr lang="ru-RU" b="1" dirty="0"/>
              <a:t>TEST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Команда</a:t>
            </a:r>
            <a:r>
              <a:rPr lang="ru-RU" dirty="0"/>
              <a:t> </a:t>
            </a:r>
            <a:r>
              <a:rPr lang="ru-RU" b="1" dirty="0" smtClean="0"/>
              <a:t>CMP</a:t>
            </a:r>
            <a:r>
              <a:rPr lang="ru-RU" dirty="0" smtClean="0"/>
              <a:t> предназначена </a:t>
            </a:r>
            <a:r>
              <a:rPr lang="ru-RU" dirty="0"/>
              <a:t>для сравнения чисел. Она выполняется аналогично команде </a:t>
            </a:r>
            <a:r>
              <a:rPr lang="ru-RU" b="1" dirty="0"/>
              <a:t>SUB</a:t>
            </a:r>
            <a:r>
              <a:rPr lang="ru-RU" dirty="0"/>
              <a:t>: из первого операнда вычитается второй, но результат не записывается на место первого операнда, изменяются только значения флагов. Например: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469506"/>
              </p:ext>
            </p:extLst>
          </p:nvPr>
        </p:nvGraphicFramePr>
        <p:xfrm>
          <a:off x="6629400" y="5015653"/>
          <a:ext cx="4775197" cy="647700"/>
        </p:xfrm>
        <a:graphic>
          <a:graphicData uri="http://schemas.openxmlformats.org/drawingml/2006/table">
            <a:tbl>
              <a:tblPr/>
              <a:tblGrid>
                <a:gridCol w="4775197"/>
              </a:tblGrid>
              <a:tr h="181610">
                <a:tc>
                  <a:txBody>
                    <a:bodyPr/>
                    <a:lstStyle/>
                    <a:p>
                      <a:pPr fontAlgn="t"/>
                      <a:r>
                        <a:rPr lang="ru-RU" sz="2000" b="1" dirty="0" err="1">
                          <a:solidFill>
                            <a:srgbClr val="000000"/>
                          </a:solidFill>
                          <a:effectLst/>
                        </a:rPr>
                        <a:t>cmp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</a:rPr>
                        <a:t>al</a:t>
                      </a:r>
                      <a:r>
                        <a:rPr lang="ru-RU" sz="2000" dirty="0">
                          <a:solidFill>
                            <a:srgbClr val="339933"/>
                          </a:solidFill>
                          <a:effectLst/>
                        </a:rPr>
                        <a:t>,</a:t>
                      </a:r>
                      <a:r>
                        <a:rPr lang="ru-RU" sz="2000" dirty="0">
                          <a:solidFill>
                            <a:srgbClr val="009000"/>
                          </a:solidFill>
                          <a:effectLst/>
                        </a:rPr>
                        <a:t>5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i="1" dirty="0">
                          <a:solidFill>
                            <a:srgbClr val="808080"/>
                          </a:solidFill>
                          <a:effectLst/>
                        </a:rPr>
                        <a:t>;Сравнение AL и 5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endParaRPr lang="ru-RU" sz="2000" dirty="0" smtClean="0">
                        <a:effectLst/>
                      </a:endParaRPr>
                    </a:p>
                    <a:p>
                      <a:pPr fontAlgn="t"/>
                      <a:r>
                        <a:rPr lang="ru-RU" sz="2000" b="1" dirty="0" err="1" smtClean="0">
                          <a:solidFill>
                            <a:srgbClr val="000000"/>
                          </a:solidFill>
                          <a:effectLst/>
                        </a:rPr>
                        <a:t>jl</a:t>
                      </a:r>
                      <a:r>
                        <a:rPr lang="ru-RU" sz="2000" dirty="0" smtClean="0">
                          <a:effectLst/>
                        </a:rPr>
                        <a:t> c1        </a:t>
                      </a:r>
                      <a:r>
                        <a:rPr lang="ru-RU" sz="2000" i="1" dirty="0">
                          <a:solidFill>
                            <a:srgbClr val="808080"/>
                          </a:solidFill>
                          <a:effectLst/>
                        </a:rPr>
                        <a:t>;Переход, если AL &lt; 5 (числа со знаком)</a:t>
                      </a:r>
                      <a:endParaRPr lang="ru-RU" sz="2000" dirty="0">
                        <a:effectLst/>
                      </a:endParaRPr>
                    </a:p>
                  </a:txBody>
                  <a:tcPr marL="38100" marR="381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18186"/>
              </p:ext>
            </p:extLst>
          </p:nvPr>
        </p:nvGraphicFramePr>
        <p:xfrm>
          <a:off x="1295401" y="5015653"/>
          <a:ext cx="4800600" cy="647700"/>
        </p:xfrm>
        <a:graphic>
          <a:graphicData uri="http://schemas.openxmlformats.org/drawingml/2006/table">
            <a:tbl>
              <a:tblPr/>
              <a:tblGrid>
                <a:gridCol w="4800600"/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ru-RU" sz="2000" b="1" dirty="0" err="1">
                          <a:solidFill>
                            <a:srgbClr val="000000"/>
                          </a:solidFill>
                          <a:effectLst/>
                        </a:rPr>
                        <a:t>cmp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</a:rPr>
                        <a:t>al</a:t>
                      </a:r>
                      <a:r>
                        <a:rPr lang="ru-RU" sz="2000" dirty="0">
                          <a:solidFill>
                            <a:srgbClr val="339933"/>
                          </a:solidFill>
                          <a:effectLst/>
                        </a:rPr>
                        <a:t>,</a:t>
                      </a:r>
                      <a:r>
                        <a:rPr lang="ru-RU" sz="2000" dirty="0">
                          <a:solidFill>
                            <a:srgbClr val="009000"/>
                          </a:solidFill>
                          <a:effectLst/>
                        </a:rPr>
                        <a:t>5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i="1" dirty="0">
                          <a:solidFill>
                            <a:srgbClr val="808080"/>
                          </a:solidFill>
                          <a:effectLst/>
                        </a:rPr>
                        <a:t>;Сравнение AL и 5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endParaRPr lang="ru-RU" sz="2000" dirty="0" smtClean="0">
                        <a:effectLst/>
                      </a:endParaRPr>
                    </a:p>
                    <a:p>
                      <a:pPr fontAlgn="t"/>
                      <a:r>
                        <a:rPr lang="ru-RU" sz="2000" b="1" dirty="0" err="1" smtClean="0">
                          <a:solidFill>
                            <a:srgbClr val="000000"/>
                          </a:solidFill>
                          <a:effectLst/>
                        </a:rPr>
                        <a:t>jb</a:t>
                      </a:r>
                      <a:r>
                        <a:rPr lang="ru-RU" sz="2000" dirty="0" smtClean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c1 </a:t>
                      </a:r>
                      <a:r>
                        <a:rPr lang="ru-RU" sz="2000" dirty="0" smtClean="0">
                          <a:effectLst/>
                        </a:rPr>
                        <a:t>      </a:t>
                      </a:r>
                      <a:r>
                        <a:rPr lang="ru-RU" sz="2000" i="1" dirty="0" smtClean="0">
                          <a:solidFill>
                            <a:srgbClr val="808080"/>
                          </a:solidFill>
                          <a:effectLst/>
                        </a:rPr>
                        <a:t>;</a:t>
                      </a:r>
                      <a:r>
                        <a:rPr lang="ru-RU" sz="2000" i="1" dirty="0">
                          <a:solidFill>
                            <a:srgbClr val="808080"/>
                          </a:solidFill>
                          <a:effectLst/>
                        </a:rPr>
                        <a:t>Переход, если AL &lt; 5 (числа без знака)</a:t>
                      </a:r>
                      <a:endParaRPr lang="ru-RU" sz="2000" dirty="0">
                        <a:effectLst/>
                      </a:endParaRPr>
                    </a:p>
                  </a:txBody>
                  <a:tcPr marL="38100" marR="381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80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Команды </a:t>
            </a:r>
            <a:r>
              <a:rPr lang="en-US" b="1" dirty="0"/>
              <a:t>CMP </a:t>
            </a:r>
            <a:r>
              <a:rPr lang="ru-RU" b="1" dirty="0"/>
              <a:t>и </a:t>
            </a:r>
            <a:r>
              <a:rPr lang="en-US" b="1" dirty="0"/>
              <a:t>TEST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193886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Часто для формирования условий переходов используются команды </a:t>
            </a:r>
            <a:r>
              <a:rPr lang="ru-RU" b="1" dirty="0"/>
              <a:t>CMP</a:t>
            </a:r>
            <a:r>
              <a:rPr lang="ru-RU" dirty="0"/>
              <a:t> и </a:t>
            </a:r>
            <a:r>
              <a:rPr lang="ru-RU" b="1" dirty="0"/>
              <a:t>TEST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/>
              <a:t>Команда </a:t>
            </a:r>
            <a:r>
              <a:rPr lang="ru-RU" b="1" dirty="0"/>
              <a:t>TEST</a:t>
            </a:r>
            <a:r>
              <a:rPr lang="ru-RU" dirty="0"/>
              <a:t> работает аналогично команде </a:t>
            </a:r>
            <a:r>
              <a:rPr lang="ru-RU" b="1" dirty="0"/>
              <a:t>AND</a:t>
            </a:r>
            <a:r>
              <a:rPr lang="ru-RU" dirty="0"/>
              <a:t>, но также результат не сохраняется, изменяются только флаги. С помощью этой команды можно проверить состояние различных битов операнда. Например: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498599" y="4766733"/>
            <a:ext cx="93979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ru-RU" sz="2000" dirty="0">
                <a:solidFill>
                  <a:srgbClr val="110000"/>
                </a:solidFill>
                <a:latin typeface="Courier New" panose="02070309020205020404" pitchFamily="49" charset="0"/>
              </a:rPr>
              <a:t> </a:t>
            </a:r>
            <a:r>
              <a:rPr lang="ru-RU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bl</a:t>
            </a:r>
            <a:r>
              <a:rPr lang="ru-RU" sz="2000" dirty="0">
                <a:solidFill>
                  <a:srgbClr val="339933"/>
                </a:solidFill>
                <a:latin typeface="Courier New" panose="02070309020205020404" pitchFamily="49" charset="0"/>
              </a:rPr>
              <a:t>,</a:t>
            </a:r>
            <a:r>
              <a:rPr lang="ru-RU" sz="2000" dirty="0">
                <a:solidFill>
                  <a:srgbClr val="009000"/>
                </a:solidFill>
                <a:latin typeface="Courier New" panose="02070309020205020404" pitchFamily="49" charset="0"/>
              </a:rPr>
              <a:t>00000100b</a:t>
            </a:r>
            <a:r>
              <a:rPr lang="ru-RU" sz="2000" dirty="0">
                <a:solidFill>
                  <a:srgbClr val="110000"/>
                </a:solidFill>
                <a:latin typeface="Courier New" panose="02070309020205020404" pitchFamily="49" charset="0"/>
              </a:rPr>
              <a:t> </a:t>
            </a:r>
            <a:r>
              <a:rPr lang="ru-RU" sz="2000" i="1" dirty="0">
                <a:solidFill>
                  <a:srgbClr val="808080"/>
                </a:solidFill>
                <a:latin typeface="Courier New" panose="02070309020205020404" pitchFamily="49" charset="0"/>
              </a:rPr>
              <a:t>;Проверить состояние 2-го бита BL</a:t>
            </a:r>
            <a:r>
              <a:rPr lang="ru-RU" sz="2000" dirty="0">
                <a:solidFill>
                  <a:srgbClr val="110000"/>
                </a:solidFill>
                <a:latin typeface="Courier New" panose="02070309020205020404" pitchFamily="49" charset="0"/>
              </a:rPr>
              <a:t> </a:t>
            </a:r>
            <a:endParaRPr lang="ru-RU" sz="2000" dirty="0" smtClean="0">
              <a:solidFill>
                <a:srgbClr val="110000"/>
              </a:solidFill>
              <a:latin typeface="Courier New" panose="02070309020205020404" pitchFamily="49" charset="0"/>
            </a:endParaRPr>
          </a:p>
          <a:p>
            <a:r>
              <a:rPr lang="ru-RU" sz="20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jz</a:t>
            </a:r>
            <a:r>
              <a:rPr lang="ru-RU" sz="2000" dirty="0" smtClean="0">
                <a:solidFill>
                  <a:srgbClr val="110000"/>
                </a:solidFill>
                <a:latin typeface="Courier New" panose="02070309020205020404" pitchFamily="49" charset="0"/>
              </a:rPr>
              <a:t> </a:t>
            </a:r>
            <a:r>
              <a:rPr lang="ru-RU" sz="2000" dirty="0">
                <a:solidFill>
                  <a:srgbClr val="110000"/>
                </a:solidFill>
                <a:latin typeface="Courier New" panose="02070309020205020404" pitchFamily="49" charset="0"/>
              </a:rPr>
              <a:t>c2 </a:t>
            </a:r>
            <a:r>
              <a:rPr lang="ru-RU" sz="2000" dirty="0" smtClean="0">
                <a:solidFill>
                  <a:srgbClr val="110000"/>
                </a:solidFill>
                <a:latin typeface="Courier New" panose="02070309020205020404" pitchFamily="49" charset="0"/>
              </a:rPr>
              <a:t>            </a:t>
            </a:r>
            <a:r>
              <a:rPr lang="ru-RU" sz="2000" i="1" dirty="0" smtClean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r>
              <a:rPr lang="ru-RU" sz="2000" i="1" dirty="0">
                <a:solidFill>
                  <a:srgbClr val="808080"/>
                </a:solidFill>
                <a:latin typeface="Courier New" panose="02070309020205020404" pitchFamily="49" charset="0"/>
              </a:rPr>
              <a:t>Переход, если 2-й бит равен 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9474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Команда </a:t>
            </a:r>
            <a:r>
              <a:rPr lang="en-US" b="1" dirty="0"/>
              <a:t>LOOP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организации цикла предназначена команда </a:t>
            </a:r>
            <a:r>
              <a:rPr lang="ru-RU" b="1" dirty="0"/>
              <a:t>LOOP</a:t>
            </a:r>
            <a:r>
              <a:rPr lang="ru-RU" dirty="0"/>
              <a:t>. У этой команды один операнд — имя метки, на которую осуществляется переход</a:t>
            </a:r>
            <a:r>
              <a:rPr lang="ru-RU" dirty="0" smtClean="0"/>
              <a:t>.</a:t>
            </a:r>
          </a:p>
          <a:p>
            <a:r>
              <a:rPr lang="ru-RU" dirty="0"/>
              <a:t>В качестве счётчика цикла используется регистр </a:t>
            </a:r>
            <a:r>
              <a:rPr lang="ru-RU" b="1" dirty="0"/>
              <a:t>CX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Команда</a:t>
            </a:r>
            <a:r>
              <a:rPr lang="ru-RU" dirty="0"/>
              <a:t> </a:t>
            </a:r>
            <a:r>
              <a:rPr lang="ru-RU" b="1" dirty="0" smtClean="0"/>
              <a:t>LOOP</a:t>
            </a:r>
            <a:r>
              <a:rPr lang="ru-RU" dirty="0" smtClean="0"/>
              <a:t> выполняет </a:t>
            </a:r>
            <a:r>
              <a:rPr lang="ru-RU" dirty="0"/>
              <a:t>декремент </a:t>
            </a:r>
            <a:r>
              <a:rPr lang="ru-RU" b="1" dirty="0"/>
              <a:t>CX</a:t>
            </a:r>
            <a:r>
              <a:rPr lang="ru-RU" dirty="0"/>
              <a:t>, а затем проверяет его значение. Если содержимое </a:t>
            </a:r>
            <a:r>
              <a:rPr lang="ru-RU" b="1" dirty="0"/>
              <a:t>CX</a:t>
            </a:r>
            <a:r>
              <a:rPr lang="ru-RU" dirty="0"/>
              <a:t> не равно нулю, то осуществляется переход на метку, иначе управление переходит к следующей после </a:t>
            </a:r>
            <a:r>
              <a:rPr lang="ru-RU" b="1" dirty="0"/>
              <a:t>LOOP</a:t>
            </a:r>
            <a:r>
              <a:rPr lang="ru-RU" dirty="0"/>
              <a:t> команде.</a:t>
            </a:r>
          </a:p>
        </p:txBody>
      </p:sp>
    </p:spTree>
    <p:extLst>
      <p:ext uri="{BB962C8B-B14F-4D97-AF65-F5344CB8AC3E}">
        <p14:creationId xmlns:p14="http://schemas.microsoft.com/office/powerpoint/2010/main" val="195593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 цикла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739073"/>
            <a:ext cx="7559762" cy="2954655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en-US" altLang="ru-RU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kumimoji="0" lang="en-US" altLang="ru-RU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al,1</a:t>
            </a:r>
            <a:endParaRPr kumimoji="0" lang="en-US" altLang="ru-RU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cx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399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9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;Счётчик повторений цикла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metka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399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solidFill>
                  <a:srgbClr val="11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ru-RU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ru-RU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ah, 2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en-US" alt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kumimoji="0" lang="en-US" altLang="ru-RU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ah, 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ru-RU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ru-RU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ru-RU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al,ah</a:t>
            </a:r>
            <a:r>
              <a:rPr lang="en-US" altLang="ru-RU" b="1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rgbClr val="11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metka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ru-RU" dirty="0">
              <a:solidFill>
                <a:srgbClr val="11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11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ru-RU" b="1" dirty="0" smtClean="0">
                <a:solidFill>
                  <a:srgbClr val="11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altLang="ru-RU" b="1" dirty="0" err="1" smtClean="0">
                <a:solidFill>
                  <a:srgbClr val="11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bh</a:t>
            </a:r>
            <a:r>
              <a:rPr lang="en-US" altLang="ru-RU" b="1" dirty="0" smtClean="0">
                <a:solidFill>
                  <a:srgbClr val="11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ru-RU" b="1" dirty="0" err="1" smtClean="0">
                <a:solidFill>
                  <a:srgbClr val="11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8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Упражнение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4223950" cy="3318936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b="1" dirty="0" smtClean="0"/>
              <a:t>I</a:t>
            </a:r>
            <a:r>
              <a:rPr lang="ru-RU" b="1" dirty="0" smtClean="0"/>
              <a:t> вариант</a:t>
            </a:r>
          </a:p>
          <a:p>
            <a:r>
              <a:rPr lang="ru-RU" dirty="0" smtClean="0"/>
              <a:t>Напишите </a:t>
            </a:r>
            <a:r>
              <a:rPr lang="ru-RU" dirty="0"/>
              <a:t>программу для вычисления степени числа </a:t>
            </a:r>
            <a:r>
              <a:rPr lang="en-US" b="1" i="1" dirty="0" smtClean="0"/>
              <a:t>m</a:t>
            </a:r>
            <a:r>
              <a:rPr lang="ru-RU" dirty="0" smtClean="0"/>
              <a:t> </a:t>
            </a:r>
            <a:r>
              <a:rPr lang="ru-RU" dirty="0"/>
              <a:t>по формуле 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b="1" i="1" dirty="0" smtClean="0"/>
              <a:t>a </a:t>
            </a:r>
            <a:r>
              <a:rPr lang="ru-RU" b="1" i="1" dirty="0"/>
              <a:t>= </a:t>
            </a:r>
            <a:r>
              <a:rPr lang="en-US" b="1" i="1" dirty="0" smtClean="0"/>
              <a:t>m</a:t>
            </a:r>
            <a:r>
              <a:rPr lang="ru-RU" b="1" i="1" baseline="30000" dirty="0" smtClean="0"/>
              <a:t>n</a:t>
            </a:r>
            <a:r>
              <a:rPr lang="ru-RU" dirty="0"/>
              <a:t>. Число </a:t>
            </a:r>
            <a:r>
              <a:rPr lang="ru-RU" b="1" i="1" dirty="0"/>
              <a:t>a</a:t>
            </a:r>
            <a:r>
              <a:rPr lang="ru-RU" dirty="0"/>
              <a:t> — 16-битное целое без знака, число </a:t>
            </a:r>
            <a:r>
              <a:rPr lang="en-US" b="1" i="1" dirty="0" smtClean="0"/>
              <a:t>m, </a:t>
            </a:r>
            <a:r>
              <a:rPr lang="ru-RU" b="1" i="1" dirty="0" smtClean="0"/>
              <a:t>n</a:t>
            </a:r>
            <a:r>
              <a:rPr lang="ru-RU" dirty="0"/>
              <a:t> — 8-битное целое без знака (используйте </a:t>
            </a:r>
            <a:r>
              <a:rPr lang="ru-RU" b="1" i="1" dirty="0"/>
              <a:t>n</a:t>
            </a:r>
            <a:r>
              <a:rPr lang="ru-RU" dirty="0"/>
              <a:t>&lt;11, чтобы избежать переполнения).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6096000" y="2556932"/>
            <a:ext cx="4223950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II</a:t>
            </a:r>
            <a:r>
              <a:rPr lang="ru-RU" b="1" dirty="0" smtClean="0"/>
              <a:t> вариант</a:t>
            </a:r>
          </a:p>
          <a:p>
            <a:r>
              <a:rPr lang="ru-RU" sz="2000" dirty="0" smtClean="0"/>
              <a:t>Напишите программу для вычисления факториала числа </a:t>
            </a:r>
            <a:r>
              <a:rPr lang="en-US" sz="2000" b="1" i="1" dirty="0" smtClean="0"/>
              <a:t>m</a:t>
            </a:r>
            <a:r>
              <a:rPr lang="ru-RU" sz="2000" dirty="0" smtClean="0"/>
              <a:t> по формуле 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b="1" i="1" dirty="0" smtClean="0"/>
              <a:t>a = </a:t>
            </a:r>
            <a:r>
              <a:rPr lang="en-US" sz="2000" b="1" i="1" dirty="0" smtClean="0"/>
              <a:t>m</a:t>
            </a:r>
            <a:r>
              <a:rPr lang="ru-RU" sz="2000" b="1" i="1" dirty="0" smtClean="0"/>
              <a:t>!</a:t>
            </a:r>
            <a:r>
              <a:rPr lang="ru-RU" sz="2000" dirty="0" smtClean="0"/>
              <a:t>. Число </a:t>
            </a:r>
            <a:r>
              <a:rPr lang="ru-RU" sz="2000" b="1" i="1" dirty="0" smtClean="0"/>
              <a:t>a</a:t>
            </a:r>
            <a:r>
              <a:rPr lang="ru-RU" sz="2000" dirty="0" smtClean="0"/>
              <a:t> — 16-битное целое без знака, число </a:t>
            </a:r>
            <a:r>
              <a:rPr lang="en-US" sz="2000" b="1" i="1" dirty="0" smtClean="0"/>
              <a:t>m</a:t>
            </a:r>
            <a:r>
              <a:rPr lang="ru-RU" sz="2000" dirty="0" smtClean="0"/>
              <a:t> — 8-битное целое без знака (используйте </a:t>
            </a:r>
            <a:r>
              <a:rPr lang="ru-RU" sz="2000" b="1" i="1" dirty="0" smtClean="0"/>
              <a:t>n</a:t>
            </a:r>
            <a:r>
              <a:rPr lang="ru-RU" sz="2000" dirty="0" smtClean="0"/>
              <a:t>&lt;15, чтобы избежать переполнения).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081531" y="711199"/>
            <a:ext cx="312143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Lora"/>
              </a:rPr>
              <a:t>Typedef</a:t>
            </a:r>
            <a:r>
              <a:rPr lang="en-US" dirty="0" smtClean="0">
                <a:solidFill>
                  <a:srgbClr val="000000"/>
                </a:solidFill>
                <a:latin typeface="Lora"/>
              </a:rPr>
              <a:t> Unsigned</a:t>
            </a:r>
            <a:r>
              <a:rPr lang="ru-RU" dirty="0" smtClean="0">
                <a:solidFill>
                  <a:srgbClr val="000000"/>
                </a:solidFill>
                <a:latin typeface="Lora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Lora"/>
              </a:rPr>
              <a:t>char </a:t>
            </a:r>
            <a:r>
              <a:rPr lang="en-US" dirty="0">
                <a:solidFill>
                  <a:srgbClr val="000000"/>
                </a:solidFill>
                <a:latin typeface="Lora"/>
              </a:rPr>
              <a:t>byte </a:t>
            </a:r>
            <a:endParaRPr lang="ru-RU" dirty="0" smtClean="0">
              <a:solidFill>
                <a:srgbClr val="000000"/>
              </a:solidFill>
              <a:latin typeface="Lora"/>
            </a:endParaRPr>
          </a:p>
          <a:p>
            <a:pPr>
              <a:lnSpc>
                <a:spcPct val="200000"/>
              </a:lnSpc>
            </a:pPr>
            <a:r>
              <a:rPr lang="ru-RU" dirty="0" smtClean="0">
                <a:solidFill>
                  <a:srgbClr val="000000"/>
                </a:solidFill>
                <a:latin typeface="Lora"/>
              </a:rPr>
              <a:t>Ввод однобайтного числа:</a:t>
            </a:r>
          </a:p>
          <a:p>
            <a:pPr lvl="0" algn="ctr"/>
            <a:r>
              <a:rPr lang="ru-RU" altLang="ru-RU" dirty="0" err="1">
                <a:solidFill>
                  <a:srgbClr val="FF0000"/>
                </a:solidFill>
                <a:latin typeface="inherit"/>
              </a:rPr>
              <a:t>scanf</a:t>
            </a:r>
            <a:r>
              <a:rPr lang="ru-RU" altLang="ru-RU" dirty="0">
                <a:solidFill>
                  <a:srgbClr val="FF0000"/>
                </a:solidFill>
                <a:latin typeface="inherit"/>
              </a:rPr>
              <a:t>("%</a:t>
            </a:r>
            <a:r>
              <a:rPr lang="ru-RU" altLang="ru-RU" dirty="0" err="1">
                <a:solidFill>
                  <a:srgbClr val="FF0000"/>
                </a:solidFill>
                <a:latin typeface="inherit"/>
              </a:rPr>
              <a:t>hhd</a:t>
            </a:r>
            <a:r>
              <a:rPr lang="ru-RU" altLang="ru-RU" dirty="0">
                <a:solidFill>
                  <a:srgbClr val="FF0000"/>
                </a:solidFill>
                <a:latin typeface="inherit"/>
              </a:rPr>
              <a:t>", &amp;x);</a:t>
            </a:r>
            <a:r>
              <a:rPr lang="ru-RU" altLang="ru-RU" sz="1600" dirty="0">
                <a:solidFill>
                  <a:srgbClr val="FF0000"/>
                </a:solidFill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575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272</TotalTime>
  <Words>505</Words>
  <Application>Microsoft Office PowerPoint</Application>
  <PresentationFormat>Широкоэкранный</PresentationFormat>
  <Paragraphs>129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Garamond</vt:lpstr>
      <vt:lpstr>inherit</vt:lpstr>
      <vt:lpstr>Lora</vt:lpstr>
      <vt:lpstr>Натуральные материалы</vt:lpstr>
      <vt:lpstr>Циклы и команды перехода</vt:lpstr>
      <vt:lpstr>Синтаксис объявления меток</vt:lpstr>
      <vt:lpstr>Безусловные переходы. Команда JMP</vt:lpstr>
      <vt:lpstr>Условные переходы</vt:lpstr>
      <vt:lpstr> Команды для различных условных переходов</vt:lpstr>
      <vt:lpstr> Команды для различных условных переходов</vt:lpstr>
      <vt:lpstr>Особенности применения</vt:lpstr>
      <vt:lpstr>Команды CMP и TEST</vt:lpstr>
      <vt:lpstr>Команды CMP и TEST</vt:lpstr>
      <vt:lpstr>Команда LOOP</vt:lpstr>
      <vt:lpstr>Пример цикла</vt:lpstr>
      <vt:lpstr>Упражнение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Циклы и команда LOOP</dc:title>
  <dc:creator>Преподаватель Кронштадский б-р,37</dc:creator>
  <cp:lastModifiedBy>Пестов Александр Игоревич</cp:lastModifiedBy>
  <cp:revision>15</cp:revision>
  <dcterms:created xsi:type="dcterms:W3CDTF">2019-03-04T06:54:38Z</dcterms:created>
  <dcterms:modified xsi:type="dcterms:W3CDTF">2021-02-08T06:51:35Z</dcterms:modified>
</cp:coreProperties>
</file>