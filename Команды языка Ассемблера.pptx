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76" r:id="rId4"/>
    <p:sldId id="277" r:id="rId5"/>
    <p:sldId id="278" r:id="rId6"/>
    <p:sldId id="263" r:id="rId7"/>
    <p:sldId id="260" r:id="rId8"/>
    <p:sldId id="266" r:id="rId9"/>
    <p:sldId id="261" r:id="rId10"/>
    <p:sldId id="265" r:id="rId11"/>
    <p:sldId id="269" r:id="rId12"/>
    <p:sldId id="279" r:id="rId13"/>
    <p:sldId id="267" r:id="rId14"/>
    <p:sldId id="271" r:id="rId15"/>
    <p:sldId id="282" r:id="rId16"/>
    <p:sldId id="272" r:id="rId17"/>
    <p:sldId id="274" r:id="rId18"/>
    <p:sldId id="280" r:id="rId19"/>
    <p:sldId id="275" r:id="rId20"/>
    <p:sldId id="281" r:id="rId21"/>
    <p:sldId id="317" r:id="rId22"/>
    <p:sldId id="283" r:id="rId23"/>
    <p:sldId id="284" r:id="rId24"/>
    <p:sldId id="285" r:id="rId25"/>
    <p:sldId id="286" r:id="rId26"/>
    <p:sldId id="287" r:id="rId27"/>
    <p:sldId id="288" r:id="rId28"/>
    <p:sldId id="297" r:id="rId29"/>
    <p:sldId id="289" r:id="rId30"/>
    <p:sldId id="290" r:id="rId31"/>
    <p:sldId id="311" r:id="rId32"/>
    <p:sldId id="313" r:id="rId33"/>
    <p:sldId id="312" r:id="rId34"/>
    <p:sldId id="310" r:id="rId35"/>
    <p:sldId id="294" r:id="rId36"/>
    <p:sldId id="293" r:id="rId37"/>
    <p:sldId id="292" r:id="rId38"/>
    <p:sldId id="296" r:id="rId39"/>
    <p:sldId id="299" r:id="rId40"/>
    <p:sldId id="298" r:id="rId41"/>
    <p:sldId id="314" r:id="rId42"/>
    <p:sldId id="316" r:id="rId43"/>
    <p:sldId id="301" r:id="rId44"/>
    <p:sldId id="302" r:id="rId45"/>
    <p:sldId id="303" r:id="rId46"/>
    <p:sldId id="300" r:id="rId47"/>
    <p:sldId id="304" r:id="rId48"/>
    <p:sldId id="305" r:id="rId49"/>
    <p:sldId id="306" r:id="rId50"/>
    <p:sldId id="307" r:id="rId51"/>
    <p:sldId id="308" r:id="rId52"/>
    <p:sldId id="309" r:id="rId5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94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14400"/>
            <a:ext cx="6705600" cy="762000"/>
          </a:xfrm>
        </p:spPr>
        <p:txBody>
          <a:bodyPr/>
          <a:lstStyle>
            <a:lvl1pPr algn="ctr">
              <a:defRPr>
                <a:solidFill>
                  <a:srgbClr val="EAEAEA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2133600"/>
            <a:ext cx="4572000" cy="12954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5B106E36-FD25-4E2D-B0AA-010F637433A0}" type="datetimeFigureOut">
              <a:rPr lang="ru-RU" smtClean="0"/>
              <a:pPr/>
              <a:t>17.02.2016</a:t>
            </a:fld>
            <a:endParaRPr lang="ru-RU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106E36-FD25-4E2D-B0AA-010F637433A0}" type="datetimeFigureOut">
              <a:rPr lang="ru-RU" smtClean="0"/>
              <a:pPr/>
              <a:t>17.02.2016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106E36-FD25-4E2D-B0AA-010F637433A0}" type="datetimeFigureOut">
              <a:rPr lang="ru-RU" smtClean="0"/>
              <a:pPr/>
              <a:t>17.02.2016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752600" y="1600200"/>
            <a:ext cx="2819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2819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106E36-FD25-4E2D-B0AA-010F637433A0}" type="datetimeFigureOut">
              <a:rPr lang="ru-RU" smtClean="0"/>
              <a:pPr/>
              <a:t>17.02.2016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106E36-FD25-4E2D-B0AA-010F637433A0}" type="datetimeFigureOut">
              <a:rPr lang="ru-RU" smtClean="0"/>
              <a:pPr/>
              <a:t>17.02.2016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106E36-FD25-4E2D-B0AA-010F637433A0}" type="datetimeFigureOut">
              <a:rPr lang="ru-RU" smtClean="0"/>
              <a:pPr/>
              <a:t>17.02.2016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106E36-FD25-4E2D-B0AA-010F637433A0}" type="datetimeFigureOut">
              <a:rPr lang="ru-RU" smtClean="0"/>
              <a:pPr/>
              <a:t>17.02.2016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106E36-FD25-4E2D-B0AA-010F637433A0}" type="datetimeFigureOut">
              <a:rPr lang="ru-RU" smtClean="0"/>
              <a:pPr/>
              <a:t>17.02.2016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106E36-FD25-4E2D-B0AA-010F637433A0}" type="datetimeFigureOut">
              <a:rPr lang="ru-RU" smtClean="0"/>
              <a:pPr/>
              <a:t>17.02.2016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106E36-FD25-4E2D-B0AA-010F637433A0}" type="datetimeFigureOut">
              <a:rPr lang="ru-RU" smtClean="0"/>
              <a:pPr/>
              <a:t>17.02.2016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5924550" y="838200"/>
            <a:ext cx="1619250" cy="5287963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066800" y="838200"/>
            <a:ext cx="4705350" cy="5287963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106E36-FD25-4E2D-B0AA-010F637433A0}" type="datetimeFigureOut">
              <a:rPr lang="ru-RU" smtClean="0"/>
              <a:pPr/>
              <a:t>17.02.2016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838200"/>
            <a:ext cx="6248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  <a:endParaRPr 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52600" y="1600200"/>
            <a:ext cx="57912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5B106E36-FD25-4E2D-B0AA-010F637433A0}" type="datetimeFigureOut">
              <a:rPr lang="ru-RU" smtClean="0"/>
              <a:pPr/>
              <a:t>17.02.2016</a:t>
            </a:fld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 spd="med">
    <p:wipe dir="d"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accent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accent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accent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accent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accent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accent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accent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 i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 i="1">
          <a:solidFill>
            <a:schemeClr val="accent2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i="1">
          <a:solidFill>
            <a:schemeClr val="accent2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 i="1">
          <a:solidFill>
            <a:schemeClr val="accent2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i="1">
          <a:solidFill>
            <a:schemeClr val="accent2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i="1">
          <a:solidFill>
            <a:schemeClr val="accent2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i="1">
          <a:solidFill>
            <a:schemeClr val="accent2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i="1">
          <a:solidFill>
            <a:schemeClr val="accent2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i="1">
          <a:solidFill>
            <a:schemeClr val="accent2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Команды языка Ассемблер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33600" y="2133600"/>
            <a:ext cx="4572000" cy="1943472"/>
          </a:xfrm>
        </p:spPr>
        <p:txBody>
          <a:bodyPr/>
          <a:lstStyle/>
          <a:p>
            <a:r>
              <a:rPr lang="ru-RU" sz="3000" b="1" dirty="0" smtClean="0"/>
              <a:t>Команды</a:t>
            </a:r>
          </a:p>
          <a:p>
            <a:r>
              <a:rPr lang="ru-RU" sz="3000" b="1" dirty="0" smtClean="0"/>
              <a:t>передачи данных</a:t>
            </a:r>
            <a:endParaRPr lang="ru-RU" sz="3000" b="1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764704"/>
            <a:ext cx="6248400" cy="934616"/>
          </a:xfrm>
        </p:spPr>
        <p:txBody>
          <a:bodyPr/>
          <a:lstStyle/>
          <a:p>
            <a:pPr algn="ctr"/>
            <a:r>
              <a:rPr lang="en-US" dirty="0" smtClean="0"/>
              <a:t>MOV</a:t>
            </a:r>
            <a:r>
              <a:rPr lang="ru-RU" dirty="0" smtClean="0"/>
              <a:t> операнд-приемник, операнд-источник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979712" y="1844824"/>
            <a:ext cx="5791200" cy="4381947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MOV AX, BX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MOV AL, BX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MOV BX, 0801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MOV BL, 0801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MOV BX, [SI]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MOV [SI], BX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MOV [SI], [DI]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MOV  [SI], 10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MOV AX, [SI]</a:t>
            </a:r>
          </a:p>
          <a:p>
            <a:pPr>
              <a:buNone/>
            </a:pPr>
            <a:r>
              <a:rPr lang="en-US" dirty="0" smtClean="0"/>
              <a:t>	MOV BX, [SI+1]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800" y="838200"/>
            <a:ext cx="6248400" cy="574576"/>
          </a:xfrm>
        </p:spPr>
        <p:txBody>
          <a:bodyPr/>
          <a:lstStyle/>
          <a:p>
            <a:pPr algn="ctr"/>
            <a:r>
              <a:rPr lang="en-US" dirty="0" smtClean="0"/>
              <a:t>XCHG</a:t>
            </a:r>
            <a:r>
              <a:rPr lang="ru-RU" dirty="0" smtClean="0"/>
              <a:t> операнд</a:t>
            </a:r>
            <a:r>
              <a:rPr lang="en-US" dirty="0" smtClean="0"/>
              <a:t>1</a:t>
            </a:r>
            <a:r>
              <a:rPr lang="ru-RU" dirty="0" smtClean="0"/>
              <a:t>, операнд</a:t>
            </a:r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63688" y="1628800"/>
            <a:ext cx="5791200" cy="4525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XCHG AX, BX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XCHG AX, [SI]</a:t>
            </a:r>
            <a:endParaRPr lang="ru-RU" dirty="0" smtClean="0"/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XCHG AL, 10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XCHG [DI], 05</a:t>
            </a:r>
            <a:endParaRPr lang="ru-RU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Задача №1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47664" y="1412776"/>
            <a:ext cx="6192688" cy="4896544"/>
          </a:xfrm>
        </p:spPr>
        <p:txBody>
          <a:bodyPr/>
          <a:lstStyle/>
          <a:p>
            <a:pPr>
              <a:buNone/>
            </a:pPr>
            <a:r>
              <a:rPr lang="ru-RU" sz="2300" dirty="0" smtClean="0"/>
              <a:t>В регистр </a:t>
            </a:r>
            <a:r>
              <a:rPr lang="en-US" sz="2300" dirty="0" smtClean="0"/>
              <a:t>AX </a:t>
            </a:r>
            <a:r>
              <a:rPr lang="ru-RU" sz="2300" dirty="0" smtClean="0"/>
              <a:t>загрузить число 10, в </a:t>
            </a:r>
            <a:r>
              <a:rPr lang="en-US" sz="2300" dirty="0" smtClean="0"/>
              <a:t>BX</a:t>
            </a:r>
            <a:r>
              <a:rPr lang="ru-RU" sz="2300" dirty="0" smtClean="0"/>
              <a:t> – 15.</a:t>
            </a:r>
          </a:p>
          <a:p>
            <a:pPr>
              <a:buNone/>
            </a:pPr>
            <a:r>
              <a:rPr lang="ru-RU" sz="2300" dirty="0" smtClean="0"/>
              <a:t>Содержимое регистра </a:t>
            </a:r>
            <a:r>
              <a:rPr lang="en-US" sz="2300" dirty="0" smtClean="0"/>
              <a:t>AX </a:t>
            </a:r>
            <a:r>
              <a:rPr lang="ru-RU" sz="2300" dirty="0" smtClean="0"/>
              <a:t>разгрузить в первую ячейку ОЗУ текущего сегмента данных.</a:t>
            </a:r>
          </a:p>
          <a:p>
            <a:pPr>
              <a:buNone/>
            </a:pPr>
            <a:r>
              <a:rPr lang="ru-RU" sz="2300" dirty="0" smtClean="0"/>
              <a:t>Содержимое ячейки </a:t>
            </a:r>
            <a:r>
              <a:rPr lang="en-US" sz="2300" dirty="0" smtClean="0"/>
              <a:t>BX </a:t>
            </a:r>
            <a:r>
              <a:rPr lang="ru-RU" sz="2300" dirty="0" smtClean="0"/>
              <a:t>разгрузить в следующую ячейку этого сегмента.</a:t>
            </a:r>
          </a:p>
          <a:p>
            <a:pPr>
              <a:buNone/>
            </a:pPr>
            <a:r>
              <a:rPr lang="ru-RU" sz="2300" dirty="0" smtClean="0"/>
              <a:t>На начало текущего сегмента данных указывает регистр </a:t>
            </a:r>
            <a:r>
              <a:rPr lang="en-US" sz="2300" dirty="0" smtClean="0"/>
              <a:t>SI.</a:t>
            </a:r>
            <a:endParaRPr lang="ru-RU" sz="2300" dirty="0" smtClean="0"/>
          </a:p>
          <a:p>
            <a:pPr>
              <a:buNone/>
            </a:pPr>
            <a:r>
              <a:rPr lang="ru-RU" sz="2300" dirty="0" smtClean="0"/>
              <a:t>Работа ведется с однобайтными числами.</a:t>
            </a:r>
            <a:endParaRPr lang="en-US" sz="2300" dirty="0" smtClean="0"/>
          </a:p>
          <a:p>
            <a:pPr algn="ctr">
              <a:buNone/>
            </a:pPr>
            <a:r>
              <a:rPr lang="en-US" sz="2300" b="1" dirty="0" smtClean="0">
                <a:solidFill>
                  <a:schemeClr val="tx1"/>
                </a:solidFill>
              </a:rPr>
              <a:t>MOV AX, 10</a:t>
            </a:r>
          </a:p>
          <a:p>
            <a:pPr algn="ctr">
              <a:buNone/>
            </a:pPr>
            <a:r>
              <a:rPr lang="en-US" sz="2300" b="1" dirty="0" smtClean="0">
                <a:solidFill>
                  <a:schemeClr val="tx1"/>
                </a:solidFill>
              </a:rPr>
              <a:t>MOV BX, 15</a:t>
            </a:r>
          </a:p>
          <a:p>
            <a:pPr algn="ctr">
              <a:buNone/>
            </a:pPr>
            <a:r>
              <a:rPr lang="en-US" sz="2300" b="1" dirty="0" smtClean="0">
                <a:solidFill>
                  <a:schemeClr val="tx1"/>
                </a:solidFill>
              </a:rPr>
              <a:t>MOV [SI], AX</a:t>
            </a:r>
          </a:p>
          <a:p>
            <a:pPr algn="ctr">
              <a:buNone/>
            </a:pPr>
            <a:r>
              <a:rPr lang="en-US" sz="2300" b="1" dirty="0" smtClean="0">
                <a:solidFill>
                  <a:schemeClr val="tx1"/>
                </a:solidFill>
              </a:rPr>
              <a:t>MOV [SI+</a:t>
            </a:r>
            <a:r>
              <a:rPr lang="ru-RU" sz="2300" b="1" dirty="0" smtClean="0">
                <a:solidFill>
                  <a:schemeClr val="tx1"/>
                </a:solidFill>
              </a:rPr>
              <a:t>1</a:t>
            </a:r>
            <a:r>
              <a:rPr lang="en-US" sz="2300" b="1" dirty="0" smtClean="0">
                <a:solidFill>
                  <a:schemeClr val="tx1"/>
                </a:solidFill>
              </a:rPr>
              <a:t>], BX</a:t>
            </a:r>
            <a:endParaRPr lang="ru-RU" sz="23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9904" y="838200"/>
            <a:ext cx="6248400" cy="579438"/>
          </a:xfrm>
        </p:spPr>
        <p:txBody>
          <a:bodyPr/>
          <a:lstStyle/>
          <a:p>
            <a:pPr algn="ctr"/>
            <a:r>
              <a:rPr lang="ru-RU" dirty="0" smtClean="0"/>
              <a:t>Задача №2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52600" y="1600200"/>
            <a:ext cx="5915744" cy="4525963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Поменять местами содержимое двух последовательно расположенных ячеек памяти.</a:t>
            </a:r>
          </a:p>
          <a:p>
            <a:pPr>
              <a:buNone/>
            </a:pPr>
            <a:r>
              <a:rPr lang="ru-RU" dirty="0" smtClean="0"/>
              <a:t>На первую ячейку указывает регистр </a:t>
            </a:r>
            <a:r>
              <a:rPr lang="en-US" dirty="0" smtClean="0"/>
              <a:t>SI.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Работа ведется с однобайтными числами.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MOV AX, [SI]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XCHG AX, [SI+1]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MOV [SI], AX</a:t>
            </a:r>
            <a:endParaRPr lang="ru-RU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</a:t>
            </a:r>
            <a:r>
              <a:rPr lang="ru-RU" dirty="0"/>
              <a:t> </a:t>
            </a:r>
            <a:r>
              <a:rPr lang="ru-RU" dirty="0" smtClean="0"/>
              <a:t>операнд1, операнд2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IN AL, 08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IN AX, 08</a:t>
            </a:r>
          </a:p>
          <a:p>
            <a:pPr algn="ctr">
              <a:buNone/>
            </a:pPr>
            <a:r>
              <a:rPr lang="ru-RU" dirty="0" smtClean="0"/>
              <a:t>где </a:t>
            </a:r>
            <a:r>
              <a:rPr lang="en-US" dirty="0" smtClean="0"/>
              <a:t>08 – </a:t>
            </a:r>
            <a:r>
              <a:rPr lang="ru-RU" dirty="0" smtClean="0"/>
              <a:t>адрес порта ввода-вывода</a:t>
            </a:r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1691680" y="3717032"/>
            <a:ext cx="6248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OUT</a:t>
            </a:r>
            <a:r>
              <a:rPr kumimoji="0" lang="ru-RU" sz="3600" b="1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операнд1, операнд2</a:t>
            </a:r>
            <a:endParaRPr kumimoji="0" lang="ru-RU" sz="3600" b="1" i="1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Содержимое 2"/>
          <p:cNvSpPr txBox="1">
            <a:spLocks/>
          </p:cNvSpPr>
          <p:nvPr/>
        </p:nvSpPr>
        <p:spPr bwMode="auto">
          <a:xfrm>
            <a:off x="2267744" y="4450357"/>
            <a:ext cx="5791200" cy="1498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 AL, 08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 AX, 08</a:t>
            </a: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где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08 – </a:t>
            </a:r>
            <a:r>
              <a:rPr kumimoji="0" lang="ru-RU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адрес порта ввода-вывода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ru-RU" sz="2400" b="0" i="1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Команды языка Ассемблер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3000" b="1" dirty="0" smtClean="0"/>
              <a:t>Команды</a:t>
            </a:r>
          </a:p>
          <a:p>
            <a:r>
              <a:rPr lang="ru-RU" sz="3000" b="1" dirty="0" smtClean="0"/>
              <a:t>работы со стеком</a:t>
            </a:r>
            <a:endParaRPr lang="ru-RU" sz="3000" b="1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PUSH</a:t>
            </a:r>
            <a:r>
              <a:rPr lang="ru-RU" dirty="0" smtClean="0"/>
              <a:t> операнд1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52600" y="1600201"/>
            <a:ext cx="5791200" cy="604664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PUSH BX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1547664" y="2708920"/>
            <a:ext cx="6248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POP</a:t>
            </a:r>
            <a:r>
              <a:rPr kumimoji="0" lang="ru-RU" sz="3600" b="1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операнд1</a:t>
            </a:r>
            <a:endParaRPr kumimoji="0" lang="ru-RU" sz="3600" b="1" i="1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Содержимое 2"/>
          <p:cNvSpPr txBox="1">
            <a:spLocks/>
          </p:cNvSpPr>
          <p:nvPr/>
        </p:nvSpPr>
        <p:spPr bwMode="auto">
          <a:xfrm>
            <a:off x="2233464" y="3470921"/>
            <a:ext cx="5791200" cy="6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POP AX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Команды языка Ассемблер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3000" b="1" dirty="0" smtClean="0"/>
              <a:t>Арифметические команды</a:t>
            </a:r>
            <a:endParaRPr lang="ru-RU" sz="3000" b="1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ADD </a:t>
            </a:r>
            <a:r>
              <a:rPr lang="ru-RU" dirty="0" smtClean="0"/>
              <a:t>операнд1, операнд2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52600" y="1600201"/>
            <a:ext cx="5791200" cy="2764904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ADD AL, BL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ADD AX, BL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ADD AL, BX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ADD AL, [SI]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ADD [DI], [SI]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ADD AX, 16</a:t>
            </a:r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1979712" y="4797152"/>
            <a:ext cx="6248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ADC</a:t>
            </a:r>
            <a:r>
              <a:rPr kumimoji="0" lang="ru-RU" sz="3600" b="1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операнд1, операнд2</a:t>
            </a:r>
            <a:endParaRPr kumimoji="0" lang="ru-RU" sz="3600" b="1" i="1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339752" y="5445224"/>
            <a:ext cx="58326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i="1" dirty="0" smtClean="0">
                <a:solidFill>
                  <a:schemeClr val="accent2"/>
                </a:solidFill>
              </a:rPr>
              <a:t>ADC EAX, EDX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INC</a:t>
            </a:r>
            <a:r>
              <a:rPr lang="ru-RU" dirty="0" smtClean="0"/>
              <a:t> операнд1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52600" y="1600201"/>
            <a:ext cx="5791200" cy="532656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INC BX</a:t>
            </a:r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1475656" y="2564904"/>
            <a:ext cx="6248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DEC</a:t>
            </a:r>
            <a:r>
              <a:rPr kumimoji="0" lang="ru-RU" sz="3600" b="1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операнд1</a:t>
            </a:r>
            <a:endParaRPr kumimoji="0" lang="ru-RU" sz="3600" b="1" i="1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Содержимое 2"/>
          <p:cNvSpPr txBox="1">
            <a:spLocks/>
          </p:cNvSpPr>
          <p:nvPr/>
        </p:nvSpPr>
        <p:spPr bwMode="auto">
          <a:xfrm>
            <a:off x="2051720" y="3212976"/>
            <a:ext cx="5791200" cy="532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n-US" sz="2400" i="1" kern="0" dirty="0" smtClean="0">
                <a:solidFill>
                  <a:schemeClr val="accent2"/>
                </a:solidFill>
              </a:rPr>
              <a:t>DE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 DX</a:t>
            </a:r>
            <a:endParaRPr kumimoji="0" lang="ru-RU" sz="2400" b="0" i="1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9904" y="838200"/>
            <a:ext cx="6248400" cy="579438"/>
          </a:xfrm>
        </p:spPr>
        <p:txBody>
          <a:bodyPr/>
          <a:lstStyle/>
          <a:p>
            <a:pPr algn="ctr"/>
            <a:r>
              <a:rPr lang="ru-RU" dirty="0" smtClean="0"/>
              <a:t>Задача №3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619672" y="1340768"/>
            <a:ext cx="6131768" cy="4968552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В регистр </a:t>
            </a:r>
            <a:r>
              <a:rPr lang="en-US" dirty="0" smtClean="0"/>
              <a:t>AL </a:t>
            </a:r>
            <a:r>
              <a:rPr lang="ru-RU" dirty="0" smtClean="0"/>
              <a:t>загрузить число 12.</a:t>
            </a:r>
          </a:p>
          <a:p>
            <a:pPr>
              <a:buNone/>
            </a:pPr>
            <a:r>
              <a:rPr lang="ru-RU" dirty="0" smtClean="0"/>
              <a:t>В первую ячейку памяти текущего сегмента данных, на которую указывает регистр </a:t>
            </a:r>
            <a:r>
              <a:rPr lang="en-US" dirty="0" smtClean="0"/>
              <a:t>SI</a:t>
            </a:r>
            <a:r>
              <a:rPr lang="ru-RU" dirty="0" smtClean="0"/>
              <a:t>, записать число 15.</a:t>
            </a:r>
          </a:p>
          <a:p>
            <a:pPr>
              <a:buNone/>
            </a:pPr>
            <a:r>
              <a:rPr lang="ru-RU" dirty="0" smtClean="0"/>
              <a:t>Произвести увеличение значения регистра </a:t>
            </a:r>
            <a:r>
              <a:rPr lang="en-US" dirty="0" smtClean="0"/>
              <a:t>AL </a:t>
            </a:r>
            <a:r>
              <a:rPr lang="ru-RU" dirty="0" smtClean="0"/>
              <a:t>на единицу, а затем сложить его со значением, записанным в ячейку памяти.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MOV AL, 12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MOV BL, 15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MOV [SI], BL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INC AL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ADD AL, [SI]</a:t>
            </a:r>
            <a:endParaRPr lang="ru-RU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SUB </a:t>
            </a:r>
            <a:r>
              <a:rPr lang="ru-RU" dirty="0" smtClean="0"/>
              <a:t>операнд1, операнд2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52600" y="1600201"/>
            <a:ext cx="5791200" cy="18288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SUB AX, CX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SUB BX, 10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SUB [SI], BX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SUB [SI], [DI]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1907704" y="4221088"/>
            <a:ext cx="6248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SBB </a:t>
            </a:r>
            <a:r>
              <a:rPr kumimoji="0" lang="ru-RU" sz="3600" b="1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операнд1, операнд2</a:t>
            </a:r>
            <a:endParaRPr kumimoji="0" lang="ru-RU" sz="3600" b="1" i="1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Содержимое 2"/>
          <p:cNvSpPr txBox="1">
            <a:spLocks/>
          </p:cNvSpPr>
          <p:nvPr/>
        </p:nvSpPr>
        <p:spPr bwMode="auto">
          <a:xfrm>
            <a:off x="2411760" y="5013176"/>
            <a:ext cx="5791200" cy="606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SBB EAX, EDX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NEG </a:t>
            </a:r>
            <a:r>
              <a:rPr lang="ru-RU" dirty="0" smtClean="0"/>
              <a:t>операнд1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52600" y="1600200"/>
            <a:ext cx="5791200" cy="1252735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NEG BX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NEG [SI]</a:t>
            </a:r>
            <a:endParaRPr lang="ru-RU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NEG 10</a:t>
            </a:r>
            <a:endParaRPr lang="ru-RU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9904" y="838200"/>
            <a:ext cx="6248400" cy="579438"/>
          </a:xfrm>
        </p:spPr>
        <p:txBody>
          <a:bodyPr/>
          <a:lstStyle/>
          <a:p>
            <a:pPr algn="ctr"/>
            <a:r>
              <a:rPr lang="ru-RU" dirty="0" smtClean="0"/>
              <a:t>Задача №4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619672" y="1412776"/>
            <a:ext cx="6048672" cy="4824536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Содержимое первой ячейки ОЗУ сложить с содержимым второй ячейки ОЗУ.</a:t>
            </a:r>
          </a:p>
          <a:p>
            <a:pPr>
              <a:buNone/>
            </a:pPr>
            <a:r>
              <a:rPr lang="ru-RU" dirty="0" smtClean="0"/>
              <a:t>От полученной суммы отнять число 15.</a:t>
            </a:r>
          </a:p>
          <a:p>
            <a:pPr>
              <a:buNone/>
            </a:pPr>
            <a:r>
              <a:rPr lang="ru-RU" dirty="0" smtClean="0"/>
              <a:t>Результат разместить в следующей ячейке ОЗУ.</a:t>
            </a:r>
          </a:p>
          <a:p>
            <a:pPr>
              <a:buNone/>
            </a:pPr>
            <a:r>
              <a:rPr lang="ru-RU" dirty="0" smtClean="0"/>
              <a:t>Работа ведется с двухбайтными числами.</a:t>
            </a:r>
          </a:p>
          <a:p>
            <a:pPr algn="ctr">
              <a:buNone/>
            </a:pPr>
            <a:endParaRPr lang="en-US" b="1" dirty="0" smtClean="0">
              <a:solidFill>
                <a:schemeClr val="tx1"/>
              </a:solidFill>
            </a:endParaRP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MOV AX, [SI]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ADD AX, [SI+2]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SUB AX, 15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MOV [SI+4], AX</a:t>
            </a:r>
            <a:endParaRPr lang="ru-RU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764704"/>
            <a:ext cx="6248400" cy="579438"/>
          </a:xfrm>
        </p:spPr>
        <p:txBody>
          <a:bodyPr/>
          <a:lstStyle/>
          <a:p>
            <a:pPr algn="ctr"/>
            <a:r>
              <a:rPr lang="en-US" dirty="0" smtClean="0"/>
              <a:t>CMP </a:t>
            </a:r>
            <a:r>
              <a:rPr lang="ru-RU" dirty="0" smtClean="0"/>
              <a:t>операнд1, операнд2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619672" y="1484784"/>
            <a:ext cx="5791200" cy="146876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CMP AX, BX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CMP AX, 10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CMP [SI], AX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1835696" y="2708920"/>
            <a:ext cx="6248400" cy="100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Состояние флажков</a:t>
            </a:r>
            <a:endParaRPr kumimoji="0" lang="en-US" sz="2600" b="1" i="1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после выполнения команды </a:t>
            </a:r>
            <a:r>
              <a:rPr kumimoji="0" lang="en-US" sz="26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CMP</a:t>
            </a:r>
            <a:endParaRPr kumimoji="0" lang="ru-RU" sz="2600" b="1" i="1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2267744" y="3645024"/>
          <a:ext cx="5760640" cy="2494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32448"/>
                <a:gridCol w="172819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Отношение</a:t>
                      </a:r>
                      <a:r>
                        <a:rPr lang="ru-RU" b="1" baseline="0" dirty="0" smtClean="0"/>
                        <a:t> операндов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Состояние флажков</a:t>
                      </a:r>
                      <a:endParaRPr lang="ru-R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b="1" dirty="0" smtClean="0"/>
                        <a:t>1 операнд БОЛЬШЕ</a:t>
                      </a:r>
                      <a:r>
                        <a:rPr lang="ru-RU" b="1" baseline="0" dirty="0" smtClean="0"/>
                        <a:t> 2 операнда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CF=0,</a:t>
                      </a:r>
                      <a:r>
                        <a:rPr lang="en-US" b="1" baseline="0" dirty="0" smtClean="0"/>
                        <a:t> ZF=0</a:t>
                      </a:r>
                      <a:endParaRPr lang="ru-R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b="1" dirty="0" smtClean="0"/>
                        <a:t>1 операнд НЕ БОЛЬШЕ</a:t>
                      </a:r>
                      <a:r>
                        <a:rPr lang="ru-RU" b="1" baseline="0" dirty="0" smtClean="0"/>
                        <a:t> 2 операнда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CF=0, ZF=1</a:t>
                      </a:r>
                      <a:endParaRPr lang="ru-R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b="1" dirty="0" smtClean="0"/>
                        <a:t>1 операнд РАВЕН</a:t>
                      </a:r>
                      <a:r>
                        <a:rPr lang="ru-RU" b="1" baseline="0" dirty="0" smtClean="0"/>
                        <a:t> 2 операнду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ZF=1</a:t>
                      </a:r>
                      <a:endParaRPr lang="ru-R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b="1" dirty="0" smtClean="0"/>
                        <a:t>1 операнд НЕ</a:t>
                      </a:r>
                      <a:r>
                        <a:rPr lang="ru-RU" b="1" baseline="0" dirty="0" smtClean="0"/>
                        <a:t> МЕНЬШЕ 2 операнда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CF=1, ZF=1</a:t>
                      </a:r>
                      <a:endParaRPr lang="ru-R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b="1" dirty="0" smtClean="0"/>
                        <a:t>1 операнд МЕНЬШЕ</a:t>
                      </a:r>
                      <a:r>
                        <a:rPr lang="ru-RU" b="1" baseline="0" dirty="0" smtClean="0"/>
                        <a:t> 2 операнда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CF=1, ZF=0</a:t>
                      </a:r>
                      <a:endParaRPr lang="ru-RU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7624" y="980728"/>
            <a:ext cx="6248400" cy="1152128"/>
          </a:xfrm>
        </p:spPr>
        <p:txBody>
          <a:bodyPr/>
          <a:lstStyle/>
          <a:p>
            <a:pPr algn="ctr"/>
            <a:r>
              <a:rPr lang="en-US" dirty="0" smtClean="0"/>
              <a:t>MUL </a:t>
            </a:r>
            <a:r>
              <a:rPr lang="ru-RU" dirty="0" smtClean="0"/>
              <a:t>операнд1 </a:t>
            </a:r>
            <a:r>
              <a:rPr lang="ru-RU" sz="2000" dirty="0" smtClean="0"/>
              <a:t>(для беззнаковых чисел)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en-US" dirty="0" smtClean="0"/>
              <a:t>IMUL </a:t>
            </a:r>
            <a:r>
              <a:rPr lang="ru-RU" dirty="0" smtClean="0"/>
              <a:t>операнд </a:t>
            </a:r>
            <a:r>
              <a:rPr lang="en-US" dirty="0" smtClean="0"/>
              <a:t>1</a:t>
            </a:r>
            <a:r>
              <a:rPr lang="ru-RU" dirty="0" smtClean="0"/>
              <a:t> </a:t>
            </a:r>
            <a:r>
              <a:rPr lang="ru-RU" sz="2000" dirty="0" smtClean="0"/>
              <a:t>(для чисел со знаком)</a:t>
            </a:r>
            <a:endParaRPr lang="ru-RU" sz="20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35696" y="2276872"/>
            <a:ext cx="6048672" cy="3888432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ru-RU" sz="2000" dirty="0" smtClean="0">
                <a:solidFill>
                  <a:srgbClr val="FF0000"/>
                </a:solidFill>
              </a:rPr>
              <a:t>При перемножении однобайтных чисел </a:t>
            </a:r>
            <a:r>
              <a:rPr lang="ru-RU" sz="2000" dirty="0" smtClean="0"/>
              <a:t>один из сомножителей помещается в регистр </a:t>
            </a:r>
            <a:r>
              <a:rPr lang="en-US" sz="2000" dirty="0" smtClean="0"/>
              <a:t>AL</a:t>
            </a:r>
            <a:r>
              <a:rPr lang="ru-RU" sz="2000" dirty="0" smtClean="0"/>
              <a:t>, другой указывается в команде. Полученный результат автоматически записывается в регистр </a:t>
            </a:r>
            <a:r>
              <a:rPr lang="en-US" sz="2000" dirty="0" smtClean="0"/>
              <a:t>AX.</a:t>
            </a: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Font typeface="Wingdings" pitchFamily="2" charset="2"/>
              <a:buChar char="ü"/>
            </a:pPr>
            <a:r>
              <a:rPr lang="ru-RU" sz="2000" dirty="0" smtClean="0">
                <a:solidFill>
                  <a:srgbClr val="FF0000"/>
                </a:solidFill>
              </a:rPr>
              <a:t>При перемножении двухбайтных чисел </a:t>
            </a:r>
            <a:r>
              <a:rPr lang="ru-RU" sz="2000" dirty="0" smtClean="0"/>
              <a:t>один из сомножителей помещается в регистр </a:t>
            </a:r>
            <a:r>
              <a:rPr lang="en-US" sz="2000" dirty="0" smtClean="0"/>
              <a:t>AX</a:t>
            </a:r>
            <a:r>
              <a:rPr lang="ru-RU" sz="2000" dirty="0" smtClean="0"/>
              <a:t>, другой указывается в команде. Полученный результат автоматически записывается в регистры </a:t>
            </a:r>
            <a:r>
              <a:rPr lang="en-US" sz="2000" dirty="0" smtClean="0"/>
              <a:t>AX </a:t>
            </a:r>
            <a:r>
              <a:rPr lang="ru-RU" sz="2000" dirty="0" smtClean="0"/>
              <a:t>и </a:t>
            </a:r>
            <a:r>
              <a:rPr lang="en-US" sz="2000" dirty="0" smtClean="0"/>
              <a:t>DX</a:t>
            </a:r>
            <a:r>
              <a:rPr lang="ru-RU" sz="2000" dirty="0" smtClean="0"/>
              <a:t>, причем в </a:t>
            </a:r>
            <a:r>
              <a:rPr lang="en-US" sz="2000" dirty="0" smtClean="0"/>
              <a:t>DX </a:t>
            </a:r>
            <a:r>
              <a:rPr lang="ru-RU" sz="2000" dirty="0" smtClean="0"/>
              <a:t>будет храниться старшая часть произведения, а в </a:t>
            </a:r>
            <a:r>
              <a:rPr lang="en-US" sz="2000" dirty="0" smtClean="0"/>
              <a:t>AX </a:t>
            </a:r>
            <a:r>
              <a:rPr lang="ru-RU" sz="2000" dirty="0" smtClean="0"/>
              <a:t>– младшая часть произведения.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9904" y="838200"/>
            <a:ext cx="6248400" cy="579438"/>
          </a:xfrm>
        </p:spPr>
        <p:txBody>
          <a:bodyPr/>
          <a:lstStyle/>
          <a:p>
            <a:pPr algn="ctr"/>
            <a:r>
              <a:rPr lang="ru-RU" dirty="0" smtClean="0"/>
              <a:t>Задача №5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259632" y="1628800"/>
            <a:ext cx="6552728" cy="4525963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Перемножить 2 однобайтных числа: +10 и -15.</a:t>
            </a:r>
          </a:p>
          <a:p>
            <a:pPr>
              <a:buNone/>
            </a:pPr>
            <a:r>
              <a:rPr lang="ru-RU" dirty="0" smtClean="0"/>
              <a:t>Полученное произведение поместить в регистр </a:t>
            </a:r>
            <a:r>
              <a:rPr lang="en-US" dirty="0" smtClean="0"/>
              <a:t>[SI]</a:t>
            </a:r>
            <a:r>
              <a:rPr lang="ru-RU" dirty="0" smtClean="0"/>
              <a:t>.</a:t>
            </a:r>
          </a:p>
          <a:p>
            <a:pPr algn="ctr">
              <a:buNone/>
            </a:pPr>
            <a:endParaRPr lang="en-US" b="1" dirty="0" smtClean="0">
              <a:solidFill>
                <a:srgbClr val="002060"/>
              </a:solidFill>
            </a:endParaRPr>
          </a:p>
          <a:p>
            <a:pPr algn="ctr">
              <a:buNone/>
            </a:pPr>
            <a:r>
              <a:rPr lang="en-US" b="1" dirty="0" smtClean="0">
                <a:solidFill>
                  <a:srgbClr val="002060"/>
                </a:solidFill>
              </a:rPr>
              <a:t>MOV AL, </a:t>
            </a:r>
            <a:r>
              <a:rPr lang="ru-RU" b="1" dirty="0" smtClean="0">
                <a:solidFill>
                  <a:srgbClr val="002060"/>
                </a:solidFill>
              </a:rPr>
              <a:t>+</a:t>
            </a:r>
            <a:r>
              <a:rPr lang="en-US" b="1" dirty="0" smtClean="0">
                <a:solidFill>
                  <a:srgbClr val="002060"/>
                </a:solidFill>
              </a:rPr>
              <a:t>10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002060"/>
                </a:solidFill>
              </a:rPr>
              <a:t>MOV BL, </a:t>
            </a:r>
            <a:r>
              <a:rPr lang="ru-RU" b="1" dirty="0" smtClean="0">
                <a:solidFill>
                  <a:srgbClr val="002060"/>
                </a:solidFill>
              </a:rPr>
              <a:t>-</a:t>
            </a:r>
            <a:r>
              <a:rPr lang="en-US" b="1" dirty="0" smtClean="0">
                <a:solidFill>
                  <a:srgbClr val="002060"/>
                </a:solidFill>
              </a:rPr>
              <a:t>15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002060"/>
                </a:solidFill>
              </a:rPr>
              <a:t>IMUL BL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002060"/>
                </a:solidFill>
              </a:rPr>
              <a:t>MOV [SI], AX</a:t>
            </a:r>
            <a:endParaRPr lang="ru-RU" b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7624" y="980728"/>
            <a:ext cx="6248400" cy="1078632"/>
          </a:xfrm>
        </p:spPr>
        <p:txBody>
          <a:bodyPr/>
          <a:lstStyle/>
          <a:p>
            <a:pPr algn="ctr"/>
            <a:r>
              <a:rPr lang="en-US" dirty="0" smtClean="0"/>
              <a:t>DIV </a:t>
            </a:r>
            <a:r>
              <a:rPr lang="ru-RU" dirty="0" smtClean="0"/>
              <a:t>операнд1 </a:t>
            </a:r>
            <a:r>
              <a:rPr lang="ru-RU" sz="2000" dirty="0" smtClean="0"/>
              <a:t>(для беззнаковых чисел)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en-US" dirty="0" smtClean="0"/>
              <a:t>IDIV </a:t>
            </a:r>
            <a:r>
              <a:rPr lang="ru-RU" dirty="0" smtClean="0"/>
              <a:t>операнд </a:t>
            </a:r>
            <a:r>
              <a:rPr lang="en-US" dirty="0" smtClean="0"/>
              <a:t>1</a:t>
            </a:r>
            <a:r>
              <a:rPr lang="ru-RU" dirty="0" smtClean="0"/>
              <a:t> </a:t>
            </a:r>
            <a:r>
              <a:rPr lang="ru-RU" sz="2000" dirty="0" smtClean="0"/>
              <a:t>(для чисел со знаком)</a:t>
            </a:r>
            <a:endParaRPr lang="ru-RU" sz="2000" dirty="0"/>
          </a:p>
        </p:txBody>
      </p:sp>
      <p:sp>
        <p:nvSpPr>
          <p:cNvPr id="4" name="Содержимое 2"/>
          <p:cNvSpPr txBox="1">
            <a:spLocks/>
          </p:cNvSpPr>
          <p:nvPr/>
        </p:nvSpPr>
        <p:spPr bwMode="auto">
          <a:xfrm>
            <a:off x="1835696" y="2420888"/>
            <a:ext cx="6048672" cy="3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ru-RU" sz="2300" b="0" i="1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При </a:t>
            </a:r>
            <a:r>
              <a:rPr lang="ru-RU" sz="2300" i="1" kern="0" dirty="0" smtClean="0">
                <a:solidFill>
                  <a:srgbClr val="FF0000"/>
                </a:solidFill>
              </a:rPr>
              <a:t>делении</a:t>
            </a:r>
            <a:r>
              <a:rPr kumimoji="0" lang="ru-RU" sz="2300" b="0" i="1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однобайтных чисел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ru-RU" sz="2300" i="1" kern="0" dirty="0" smtClean="0">
                <a:solidFill>
                  <a:srgbClr val="FF0000"/>
                </a:solidFill>
              </a:rPr>
              <a:t>	</a:t>
            </a:r>
            <a:r>
              <a:rPr lang="ru-RU" sz="2300" i="1" kern="0" dirty="0" smtClean="0">
                <a:solidFill>
                  <a:schemeClr val="accent2"/>
                </a:solidFill>
              </a:rPr>
              <a:t>частное</a:t>
            </a:r>
            <a:r>
              <a:rPr kumimoji="0" lang="ru-RU" sz="23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автоматически записывается в регистр </a:t>
            </a:r>
            <a:r>
              <a:rPr kumimoji="0" lang="en-US" sz="23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</a:t>
            </a:r>
            <a:r>
              <a:rPr kumimoji="0" lang="ru-RU" sz="23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а остаток от деления – в регистр </a:t>
            </a:r>
            <a:r>
              <a:rPr kumimoji="0" lang="en-US" sz="23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AH.</a:t>
            </a:r>
            <a:endParaRPr kumimoji="0" lang="ru-RU" sz="2300" b="0" i="1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ru-RU" sz="2300" b="0" i="1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ru-RU" sz="2300" b="0" i="1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При делении двухбайтных чисел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ru-RU" sz="2300" i="1" kern="0" dirty="0" smtClean="0">
                <a:solidFill>
                  <a:srgbClr val="FF0000"/>
                </a:solidFill>
              </a:rPr>
              <a:t>	</a:t>
            </a:r>
            <a:r>
              <a:rPr lang="ru-RU" sz="2300" i="1" kern="0" dirty="0" smtClean="0">
                <a:solidFill>
                  <a:schemeClr val="accent2"/>
                </a:solidFill>
              </a:rPr>
              <a:t>частное автоматически записывается</a:t>
            </a:r>
            <a:r>
              <a:rPr kumimoji="0" lang="ru-RU" sz="23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в регистр </a:t>
            </a:r>
            <a:r>
              <a:rPr kumimoji="0" lang="en-US" sz="23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</a:t>
            </a:r>
            <a:r>
              <a:rPr kumimoji="0" lang="ru-RU" sz="23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а остаток от деления –</a:t>
            </a:r>
            <a:r>
              <a:rPr kumimoji="0" lang="ru-RU" sz="2300" b="0" i="1" u="none" strike="noStrike" kern="0" cap="none" spc="0" normalizeH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в регистр</a:t>
            </a:r>
            <a:r>
              <a:rPr kumimoji="0" lang="ru-RU" sz="23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3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DX</a:t>
            </a:r>
            <a:r>
              <a:rPr kumimoji="0" lang="ru-RU" sz="23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9904" y="838200"/>
            <a:ext cx="6248400" cy="579438"/>
          </a:xfrm>
        </p:spPr>
        <p:txBody>
          <a:bodyPr/>
          <a:lstStyle/>
          <a:p>
            <a:pPr algn="ctr"/>
            <a:r>
              <a:rPr lang="ru-RU" dirty="0" smtClean="0"/>
              <a:t>Задача №</a:t>
            </a:r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63688" y="1412776"/>
            <a:ext cx="5791200" cy="4709120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Разделить содержимое регистра </a:t>
            </a:r>
            <a:r>
              <a:rPr lang="en-US" dirty="0" smtClean="0"/>
              <a:t>DL </a:t>
            </a:r>
            <a:r>
              <a:rPr lang="ru-RU" dirty="0" smtClean="0"/>
              <a:t>на содержимое регистра </a:t>
            </a:r>
            <a:r>
              <a:rPr lang="en-US" dirty="0" smtClean="0"/>
              <a:t>[SI].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Результат разместить в двух следующих ячейках сегмента данных.</a:t>
            </a:r>
          </a:p>
          <a:p>
            <a:pPr>
              <a:buNone/>
            </a:pPr>
            <a:r>
              <a:rPr lang="ru-RU" dirty="0" smtClean="0"/>
              <a:t>Работа ведется с однобайтными беззнаковыми числами.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MOV AL, DL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MOV BL, [SI]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DIV BL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MOV [SI+1], AL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MOV [SI+2], AH</a:t>
            </a:r>
            <a:endParaRPr lang="ru-RU" b="1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ru-RU" dirty="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9904" y="838200"/>
            <a:ext cx="6248400" cy="579438"/>
          </a:xfrm>
        </p:spPr>
        <p:txBody>
          <a:bodyPr/>
          <a:lstStyle/>
          <a:p>
            <a:pPr algn="ctr"/>
            <a:r>
              <a:rPr lang="ru-RU" dirty="0" smtClean="0"/>
              <a:t>Задача №</a:t>
            </a:r>
            <a:r>
              <a:rPr lang="en-US" dirty="0" smtClean="0"/>
              <a:t>7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63688" y="1412776"/>
            <a:ext cx="5791200" cy="4709120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Пусть </a:t>
            </a:r>
            <a:r>
              <a:rPr lang="ru-RU" dirty="0" err="1" smtClean="0"/>
              <a:t>х</a:t>
            </a:r>
            <a:r>
              <a:rPr lang="ru-RU" dirty="0" smtClean="0"/>
              <a:t> – знаковое однобайтное число; у – переменная размером в слово.</a:t>
            </a:r>
          </a:p>
          <a:p>
            <a:pPr>
              <a:buNone/>
            </a:pPr>
            <a:r>
              <a:rPr lang="ru-RU" dirty="0" smtClean="0"/>
              <a:t>Вычислить </a:t>
            </a:r>
            <a:r>
              <a:rPr lang="ru-RU" dirty="0" err="1" smtClean="0"/>
              <a:t>у=х</a:t>
            </a:r>
            <a:r>
              <a:rPr lang="ru-RU" dirty="0" smtClean="0"/>
              <a:t>*</a:t>
            </a:r>
            <a:r>
              <a:rPr lang="ru-RU" dirty="0" err="1" smtClean="0"/>
              <a:t>х</a:t>
            </a:r>
            <a:r>
              <a:rPr lang="en-US" dirty="0" smtClean="0"/>
              <a:t>*x </a:t>
            </a:r>
            <a:r>
              <a:rPr lang="ru-RU" dirty="0" smtClean="0"/>
              <a:t>при условии, что результат имеет размер слова. </a:t>
            </a:r>
          </a:p>
          <a:p>
            <a:pPr algn="ctr">
              <a:buNone/>
            </a:pPr>
            <a:r>
              <a:rPr lang="en-US" dirty="0" smtClean="0">
                <a:solidFill>
                  <a:schemeClr val="tx1"/>
                </a:solidFill>
              </a:rPr>
              <a:t>MOV AL, X</a:t>
            </a:r>
          </a:p>
          <a:p>
            <a:pPr algn="ctr">
              <a:buNone/>
            </a:pPr>
            <a:r>
              <a:rPr lang="en-US" dirty="0" smtClean="0">
                <a:solidFill>
                  <a:schemeClr val="tx1"/>
                </a:solidFill>
              </a:rPr>
              <a:t>IMUL AL</a:t>
            </a:r>
          </a:p>
          <a:p>
            <a:pPr algn="ctr">
              <a:buNone/>
            </a:pPr>
            <a:r>
              <a:rPr lang="en-US" dirty="0" smtClean="0">
                <a:solidFill>
                  <a:schemeClr val="tx1"/>
                </a:solidFill>
              </a:rPr>
              <a:t>MOV BX, AX</a:t>
            </a:r>
          </a:p>
          <a:p>
            <a:pPr algn="ctr">
              <a:buNone/>
            </a:pPr>
            <a:r>
              <a:rPr lang="en-US" dirty="0" smtClean="0">
                <a:solidFill>
                  <a:schemeClr val="tx1"/>
                </a:solidFill>
              </a:rPr>
              <a:t>MOV AL, X</a:t>
            </a:r>
          </a:p>
          <a:p>
            <a:pPr algn="ctr">
              <a:buNone/>
            </a:pPr>
            <a:r>
              <a:rPr lang="en-US" dirty="0" smtClean="0">
                <a:solidFill>
                  <a:schemeClr val="tx1"/>
                </a:solidFill>
              </a:rPr>
              <a:t>CBW</a:t>
            </a:r>
          </a:p>
          <a:p>
            <a:pPr algn="ctr">
              <a:buNone/>
            </a:pPr>
            <a:r>
              <a:rPr lang="en-US" dirty="0" smtClean="0">
                <a:solidFill>
                  <a:schemeClr val="tx1"/>
                </a:solidFill>
              </a:rPr>
              <a:t>IMUL BX</a:t>
            </a:r>
          </a:p>
          <a:p>
            <a:pPr algn="ctr">
              <a:buNone/>
            </a:pPr>
            <a:r>
              <a:rPr lang="en-US" dirty="0" smtClean="0">
                <a:solidFill>
                  <a:schemeClr val="tx1"/>
                </a:solidFill>
              </a:rPr>
              <a:t>MOV Y, AX</a:t>
            </a:r>
            <a:endParaRPr lang="ru-RU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Команды языка Ассемблер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3000" b="1" dirty="0" smtClean="0"/>
              <a:t>Логические</a:t>
            </a:r>
          </a:p>
          <a:p>
            <a:r>
              <a:rPr lang="ru-RU" sz="3000" b="1" dirty="0" smtClean="0"/>
              <a:t>команды</a:t>
            </a:r>
            <a:endParaRPr lang="ru-RU" sz="3000" b="1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NOT </a:t>
            </a:r>
            <a:r>
              <a:rPr lang="ru-RU" dirty="0" smtClean="0"/>
              <a:t>операнд1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691680" y="1556792"/>
            <a:ext cx="5791200" cy="96470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NOT BX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NOT [SI]</a:t>
            </a:r>
          </a:p>
          <a:p>
            <a:pPr algn="ctr">
              <a:buNone/>
            </a:pPr>
            <a:r>
              <a:rPr lang="en-US" dirty="0" smtClean="0">
                <a:solidFill>
                  <a:schemeClr val="tx1"/>
                </a:solidFill>
              </a:rPr>
              <a:t>NOT (00011)=11100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1619672" y="3068960"/>
            <a:ext cx="6248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i="1" kern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AND</a:t>
            </a:r>
            <a:r>
              <a:rPr lang="ru-RU" sz="3600" b="1" i="1" kern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операнд1, операнд2</a:t>
            </a:r>
            <a:endParaRPr kumimoji="0" lang="ru-RU" sz="3600" b="1" i="1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Содержимое 2"/>
          <p:cNvSpPr txBox="1">
            <a:spLocks/>
          </p:cNvSpPr>
          <p:nvPr/>
        </p:nvSpPr>
        <p:spPr bwMode="auto">
          <a:xfrm>
            <a:off x="2195736" y="3789040"/>
            <a:ext cx="5791200" cy="2334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n-US" sz="2400" i="1" kern="0" dirty="0" smtClean="0">
                <a:solidFill>
                  <a:schemeClr val="accent2"/>
                </a:solidFill>
              </a:rPr>
              <a:t>AND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AX,</a:t>
            </a:r>
            <a:r>
              <a:rPr kumimoji="0" lang="en-US" sz="2400" b="0" i="1" u="none" strike="noStrike" kern="0" cap="none" spc="0" normalizeH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BX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n-US" sz="2400" i="1" kern="0" dirty="0" smtClean="0">
                <a:solidFill>
                  <a:schemeClr val="accent2"/>
                </a:solidFill>
              </a:rPr>
              <a:t>AND AX, [SI]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AX, 100b</a:t>
            </a: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400" i="1" kern="0" dirty="0" smtClean="0"/>
              <a:t>AND (01111, 11001)=01001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Примеры обнуления бит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35696" y="1484784"/>
            <a:ext cx="5791200" cy="4709120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Обнулить 4 старших бита в регистре </a:t>
            </a:r>
            <a:r>
              <a:rPr lang="en-US" dirty="0" smtClean="0"/>
              <a:t>DL</a:t>
            </a:r>
            <a:r>
              <a:rPr lang="ru-RU" dirty="0" smtClean="0"/>
              <a:t>, используя число-маску.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AND DL, 00001111b</a:t>
            </a:r>
          </a:p>
          <a:p>
            <a:pPr algn="ctr">
              <a:buNone/>
            </a:pPr>
            <a:r>
              <a:rPr lang="ru-RU" b="1" dirty="0" smtClean="0">
                <a:solidFill>
                  <a:srgbClr val="FF0000"/>
                </a:solidFill>
              </a:rPr>
              <a:t>или</a:t>
            </a:r>
            <a:endParaRPr lang="en-US" b="1" dirty="0" smtClean="0">
              <a:solidFill>
                <a:schemeClr val="tx1"/>
              </a:solidFill>
            </a:endParaRP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AND</a:t>
            </a:r>
            <a:r>
              <a:rPr lang="ru-RU" b="1" dirty="0" smtClean="0">
                <a:solidFill>
                  <a:schemeClr val="tx1"/>
                </a:solidFill>
              </a:rPr>
              <a:t> </a:t>
            </a:r>
            <a:r>
              <a:rPr lang="en-US" b="1" dirty="0" smtClean="0">
                <a:solidFill>
                  <a:schemeClr val="tx1"/>
                </a:solidFill>
              </a:rPr>
              <a:t>DL, 0Fh</a:t>
            </a:r>
          </a:p>
          <a:p>
            <a:pPr algn="ctr">
              <a:buNone/>
            </a:pPr>
            <a:endParaRPr lang="en-US" b="1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ru-RU" dirty="0" smtClean="0"/>
              <a:t>Обнулить первый и последний биты в регистре </a:t>
            </a:r>
            <a:r>
              <a:rPr lang="en-US" dirty="0" smtClean="0"/>
              <a:t>DL</a:t>
            </a:r>
            <a:r>
              <a:rPr lang="ru-RU" dirty="0" smtClean="0"/>
              <a:t>, используя число-маску.</a:t>
            </a:r>
            <a:endParaRPr lang="en-US" dirty="0" smtClean="0"/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AND DL, 01111110b</a:t>
            </a:r>
          </a:p>
          <a:p>
            <a:pPr algn="ctr">
              <a:buNone/>
            </a:pPr>
            <a:r>
              <a:rPr lang="ru-RU" b="1" dirty="0" smtClean="0">
                <a:solidFill>
                  <a:srgbClr val="FF0000"/>
                </a:solidFill>
              </a:rPr>
              <a:t>или</a:t>
            </a:r>
            <a:endParaRPr lang="ru-RU" b="1" dirty="0" smtClean="0">
              <a:solidFill>
                <a:schemeClr val="tx1"/>
              </a:solidFill>
            </a:endParaRP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AND DL, 7Eh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OR </a:t>
            </a:r>
            <a:r>
              <a:rPr lang="ru-RU" dirty="0" smtClean="0"/>
              <a:t>операнд1, операнд2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691680" y="1556792"/>
            <a:ext cx="5791200" cy="1296144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OR BX, DX</a:t>
            </a:r>
          </a:p>
          <a:p>
            <a:pPr lvl="0">
              <a:buFont typeface="Wingdings" pitchFamily="2" charset="2"/>
              <a:buChar char="Ø"/>
              <a:defRPr/>
            </a:pPr>
            <a:r>
              <a:rPr lang="en-US" dirty="0" smtClean="0"/>
              <a:t>OR AX, [SI]</a:t>
            </a:r>
          </a:p>
          <a:p>
            <a:pPr lvl="0">
              <a:buFont typeface="Wingdings" pitchFamily="2" charset="2"/>
              <a:buChar char="Ø"/>
              <a:defRPr/>
            </a:pPr>
            <a:r>
              <a:rPr lang="en-US" dirty="0" smtClean="0"/>
              <a:t>OR AX, 1010b</a:t>
            </a:r>
          </a:p>
          <a:p>
            <a:pPr algn="ctr">
              <a:buNone/>
            </a:pPr>
            <a:r>
              <a:rPr lang="en-US" dirty="0" smtClean="0">
                <a:solidFill>
                  <a:schemeClr val="tx1"/>
                </a:solidFill>
              </a:rPr>
              <a:t>OR (00011, 00111)=00111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1619672" y="3284984"/>
            <a:ext cx="6248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3600" b="1" i="1" kern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Пример обнуления бит</a:t>
            </a:r>
            <a:endParaRPr kumimoji="0" lang="ru-RU" sz="3600" b="1" i="1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Содержимое 2"/>
          <p:cNvSpPr txBox="1">
            <a:spLocks/>
          </p:cNvSpPr>
          <p:nvPr/>
        </p:nvSpPr>
        <p:spPr bwMode="auto">
          <a:xfrm>
            <a:off x="2195736" y="3789040"/>
            <a:ext cx="5791200" cy="2334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ru-RU" sz="2400" i="1" kern="0" dirty="0" smtClean="0">
                <a:solidFill>
                  <a:schemeClr val="accent2"/>
                </a:solidFill>
              </a:rPr>
              <a:t>Установить в единицы все четные биты в регистре </a:t>
            </a:r>
            <a:r>
              <a:rPr lang="en-US" sz="2400" i="1" kern="0" dirty="0" smtClean="0">
                <a:solidFill>
                  <a:schemeClr val="accent2"/>
                </a:solidFill>
              </a:rPr>
              <a:t>AL.</a:t>
            </a: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400" b="1" i="1" kern="0" dirty="0" smtClean="0"/>
              <a:t>OR AL, 10101010b</a:t>
            </a: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ru-RU" sz="2400" b="1" i="1" kern="0" dirty="0" smtClean="0">
                <a:solidFill>
                  <a:srgbClr val="FF0000"/>
                </a:solidFill>
              </a:rPr>
              <a:t>или</a:t>
            </a: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4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OR AL, AAh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800" y="838200"/>
            <a:ext cx="6248400" cy="575230"/>
          </a:xfrm>
        </p:spPr>
        <p:txBody>
          <a:bodyPr/>
          <a:lstStyle/>
          <a:p>
            <a:pPr algn="ctr"/>
            <a:r>
              <a:rPr lang="en-US" dirty="0" smtClean="0"/>
              <a:t>XOR </a:t>
            </a:r>
            <a:r>
              <a:rPr lang="ru-RU" dirty="0" smtClean="0"/>
              <a:t>операнд1, операнд2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52600" y="1600201"/>
            <a:ext cx="5791200" cy="3124943"/>
          </a:xfrm>
        </p:spPr>
        <p:txBody>
          <a:bodyPr/>
          <a:lstStyle/>
          <a:p>
            <a:pPr lvl="0">
              <a:buFont typeface="Wingdings" pitchFamily="2" charset="2"/>
              <a:buChar char="Ø"/>
              <a:defRPr/>
            </a:pPr>
            <a:r>
              <a:rPr lang="en-US" dirty="0" smtClean="0"/>
              <a:t>XOR AX, BX</a:t>
            </a:r>
          </a:p>
          <a:p>
            <a:pPr lvl="0">
              <a:buFont typeface="Wingdings" pitchFamily="2" charset="2"/>
              <a:buChar char="Ø"/>
              <a:defRPr/>
            </a:pPr>
            <a:r>
              <a:rPr lang="en-US" dirty="0" smtClean="0"/>
              <a:t>XOR AX, [SI]</a:t>
            </a:r>
          </a:p>
          <a:p>
            <a:pPr lvl="0">
              <a:buFont typeface="Wingdings" pitchFamily="2" charset="2"/>
              <a:buChar char="Ø"/>
              <a:defRPr/>
            </a:pPr>
            <a:r>
              <a:rPr lang="en-US" dirty="0" smtClean="0"/>
              <a:t>XOR BX, 0010b</a:t>
            </a:r>
          </a:p>
          <a:p>
            <a:pPr lvl="0" algn="ctr">
              <a:buNone/>
              <a:defRPr/>
            </a:pPr>
            <a:r>
              <a:rPr lang="en-US" dirty="0" smtClean="0">
                <a:solidFill>
                  <a:schemeClr val="tx1"/>
                </a:solidFill>
              </a:rPr>
              <a:t>XOR (10110, 01110) = 11000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 algn="ctr">
              <a:buNone/>
            </a:pPr>
            <a:endParaRPr lang="ru-RU" b="1" dirty="0" smtClean="0">
              <a:solidFill>
                <a:schemeClr val="tx2"/>
              </a:solidFill>
            </a:endParaRPr>
          </a:p>
          <a:p>
            <a:pPr algn="ctr">
              <a:buNone/>
            </a:pPr>
            <a:r>
              <a:rPr lang="en-US" b="1" dirty="0" smtClean="0">
                <a:solidFill>
                  <a:schemeClr val="tx2"/>
                </a:solidFill>
              </a:rPr>
              <a:t>XOR BX, BX</a:t>
            </a:r>
            <a:endParaRPr lang="ru-RU" b="1" dirty="0">
              <a:solidFill>
                <a:schemeClr val="tx2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339752" y="3789040"/>
            <a:ext cx="49902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i="1" dirty="0" smtClean="0">
                <a:solidFill>
                  <a:schemeClr val="accent2"/>
                </a:solidFill>
              </a:rPr>
              <a:t>Пример обнуления содержимого регистра</a:t>
            </a:r>
            <a:endParaRPr lang="ru-RU" sz="3600" b="1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TEST </a:t>
            </a:r>
            <a:r>
              <a:rPr lang="ru-RU" dirty="0" smtClean="0"/>
              <a:t>операнд1, операнд2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52600" y="1600201"/>
            <a:ext cx="5791200" cy="2692896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Проверить третий бит содержимого регистра </a:t>
            </a:r>
            <a:r>
              <a:rPr lang="en-US" dirty="0" smtClean="0"/>
              <a:t>AL.</a:t>
            </a:r>
            <a:endParaRPr lang="ru-RU" dirty="0" smtClean="0"/>
          </a:p>
          <a:p>
            <a:pPr algn="ctr">
              <a:buNone/>
            </a:pPr>
            <a:endParaRPr lang="ru-RU" b="1" dirty="0" smtClean="0">
              <a:solidFill>
                <a:schemeClr val="tx1"/>
              </a:solidFill>
            </a:endParaRP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TEST AL, 00000100b</a:t>
            </a:r>
          </a:p>
          <a:p>
            <a:pPr algn="ctr">
              <a:buNone/>
            </a:pPr>
            <a:r>
              <a:rPr lang="ru-RU" b="1" dirty="0" smtClean="0">
                <a:solidFill>
                  <a:srgbClr val="FF0000"/>
                </a:solidFill>
              </a:rPr>
              <a:t>или</a:t>
            </a:r>
            <a:endParaRPr lang="en-US" b="1" dirty="0" smtClean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TEST AL, 04h</a:t>
            </a:r>
            <a:endParaRPr lang="ru-RU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Задача №</a:t>
            </a:r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63688" y="1628800"/>
            <a:ext cx="5904656" cy="4824536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Содержимое регистра </a:t>
            </a:r>
            <a:r>
              <a:rPr lang="en-US" dirty="0" smtClean="0"/>
              <a:t>CX </a:t>
            </a:r>
            <a:r>
              <a:rPr lang="ru-RU" dirty="0" smtClean="0"/>
              <a:t>инвертировать.</a:t>
            </a:r>
          </a:p>
          <a:p>
            <a:pPr>
              <a:buNone/>
            </a:pPr>
            <a:r>
              <a:rPr lang="ru-RU" dirty="0" smtClean="0"/>
              <a:t>Установить седьмой и пятый биты содержимого регистра </a:t>
            </a:r>
            <a:r>
              <a:rPr lang="en-US" dirty="0" smtClean="0"/>
              <a:t>CX </a:t>
            </a:r>
            <a:r>
              <a:rPr lang="ru-RU" dirty="0" smtClean="0"/>
              <a:t>в «1», а первый, третий и четвертый биты –</a:t>
            </a:r>
            <a:r>
              <a:rPr lang="ru-RU" dirty="0"/>
              <a:t> </a:t>
            </a:r>
            <a:r>
              <a:rPr lang="ru-RU" dirty="0" smtClean="0"/>
              <a:t>в «0».</a:t>
            </a:r>
          </a:p>
          <a:p>
            <a:pPr algn="ctr">
              <a:buNone/>
            </a:pPr>
            <a:endParaRPr lang="en-US" b="1" dirty="0" smtClean="0">
              <a:solidFill>
                <a:schemeClr val="tx1"/>
              </a:solidFill>
            </a:endParaRP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NOT CX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OR CX, 01010000b (50h)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AND CX, 11110010b (F2h)</a:t>
            </a:r>
            <a:endParaRPr lang="ru-RU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Команды языка Ассемблер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339752" y="2132856"/>
            <a:ext cx="4572000" cy="3239616"/>
          </a:xfrm>
        </p:spPr>
        <p:txBody>
          <a:bodyPr/>
          <a:lstStyle/>
          <a:p>
            <a:r>
              <a:rPr lang="ru-RU" sz="3000" b="1" dirty="0" smtClean="0"/>
              <a:t>Команды</a:t>
            </a:r>
          </a:p>
          <a:p>
            <a:r>
              <a:rPr lang="ru-RU" sz="3000" b="1" dirty="0" smtClean="0"/>
              <a:t>сдвига:</a:t>
            </a:r>
          </a:p>
          <a:p>
            <a:pPr>
              <a:buFontTx/>
              <a:buChar char="-"/>
            </a:pPr>
            <a:r>
              <a:rPr lang="ru-RU" sz="2700" b="1" dirty="0" smtClean="0"/>
              <a:t>логического сдвига,</a:t>
            </a:r>
          </a:p>
          <a:p>
            <a:r>
              <a:rPr lang="ru-RU" sz="2700" b="1" dirty="0" smtClean="0"/>
              <a:t>- арифметического сдвига,</a:t>
            </a:r>
          </a:p>
          <a:p>
            <a:r>
              <a:rPr lang="ru-RU" sz="2700" b="1" dirty="0" smtClean="0"/>
              <a:t>- циклического сдвига</a:t>
            </a:r>
            <a:endParaRPr lang="ru-RU" sz="2700" b="1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SHL </a:t>
            </a:r>
            <a:r>
              <a:rPr lang="ru-RU" dirty="0" smtClean="0"/>
              <a:t>операнд</a:t>
            </a:r>
            <a:r>
              <a:rPr lang="en-US" dirty="0" smtClean="0"/>
              <a:t>1</a:t>
            </a:r>
            <a:r>
              <a:rPr lang="ru-RU" dirty="0" smtClean="0"/>
              <a:t>, </a:t>
            </a:r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907704" y="1628800"/>
            <a:ext cx="5791200" cy="4493095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MOV AL, 01000111b</a:t>
            </a:r>
          </a:p>
          <a:p>
            <a:pPr>
              <a:buNone/>
            </a:pPr>
            <a:r>
              <a:rPr lang="en-US" dirty="0" smtClean="0"/>
              <a:t>	SHL AL, 1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ru-RU" dirty="0" smtClean="0"/>
              <a:t>Результат: </a:t>
            </a:r>
            <a:r>
              <a:rPr lang="en-US" dirty="0" smtClean="0"/>
              <a:t>CF=0, AL=10001110b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MOV AL, 01000111b</a:t>
            </a:r>
          </a:p>
          <a:p>
            <a:pPr>
              <a:buNone/>
            </a:pPr>
            <a:r>
              <a:rPr lang="en-US" dirty="0" smtClean="0"/>
              <a:t>	SHR AL, 1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ru-RU" dirty="0" smtClean="0"/>
              <a:t>Результат: </a:t>
            </a:r>
            <a:r>
              <a:rPr lang="en-US" dirty="0" smtClean="0"/>
              <a:t>CF=1, AL=00100011b</a:t>
            </a:r>
            <a:endParaRPr lang="ru-RU" dirty="0" smtClean="0"/>
          </a:p>
        </p:txBody>
      </p:sp>
      <p:grpSp>
        <p:nvGrpSpPr>
          <p:cNvPr id="29" name="Группа 28"/>
          <p:cNvGrpSpPr/>
          <p:nvPr/>
        </p:nvGrpSpPr>
        <p:grpSpPr>
          <a:xfrm>
            <a:off x="2843808" y="1556792"/>
            <a:ext cx="3324418" cy="864096"/>
            <a:chOff x="2843808" y="1556792"/>
            <a:chExt cx="3324418" cy="864096"/>
          </a:xfrm>
        </p:grpSpPr>
        <p:sp>
          <p:nvSpPr>
            <p:cNvPr id="4" name="Прямоугольник 3"/>
            <p:cNvSpPr/>
            <p:nvPr/>
          </p:nvSpPr>
          <p:spPr bwMode="auto">
            <a:xfrm>
              <a:off x="2843808" y="1916832"/>
              <a:ext cx="576064" cy="50405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CF</a:t>
              </a: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" name="Прямоугольник 4"/>
            <p:cNvSpPr/>
            <p:nvPr/>
          </p:nvSpPr>
          <p:spPr bwMode="auto">
            <a:xfrm>
              <a:off x="4572000" y="1916832"/>
              <a:ext cx="1584176" cy="50405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   …</a:t>
              </a: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7" name="Прямая соединительная линия 6"/>
            <p:cNvCxnSpPr/>
            <p:nvPr/>
          </p:nvCxnSpPr>
          <p:spPr bwMode="auto">
            <a:xfrm>
              <a:off x="5796136" y="1916832"/>
              <a:ext cx="0" cy="50405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Прямая соединительная линия 8"/>
            <p:cNvCxnSpPr/>
            <p:nvPr/>
          </p:nvCxnSpPr>
          <p:spPr bwMode="auto">
            <a:xfrm>
              <a:off x="5436096" y="1916832"/>
              <a:ext cx="0" cy="50405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Прямая со стрелкой 10"/>
            <p:cNvCxnSpPr/>
            <p:nvPr/>
          </p:nvCxnSpPr>
          <p:spPr bwMode="auto">
            <a:xfrm flipH="1">
              <a:off x="5652120" y="2204864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2" name="Прямая со стрелкой 11"/>
            <p:cNvCxnSpPr/>
            <p:nvPr/>
          </p:nvCxnSpPr>
          <p:spPr bwMode="auto">
            <a:xfrm flipH="1">
              <a:off x="5220072" y="2204864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3" name="TextBox 12"/>
            <p:cNvSpPr txBox="1"/>
            <p:nvPr/>
          </p:nvSpPr>
          <p:spPr>
            <a:xfrm>
              <a:off x="5508104" y="155679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ru-RU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868144" y="155679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0</a:t>
              </a:r>
              <a:endParaRPr lang="ru-RU" dirty="0"/>
            </a:p>
          </p:txBody>
        </p:sp>
        <p:cxnSp>
          <p:nvCxnSpPr>
            <p:cNvPr id="16" name="Прямая соединительная линия 15"/>
            <p:cNvCxnSpPr>
              <a:stCxn id="4" idx="3"/>
              <a:endCxn id="5" idx="1"/>
            </p:cNvCxnSpPr>
            <p:nvPr/>
          </p:nvCxnSpPr>
          <p:spPr bwMode="auto">
            <a:xfrm>
              <a:off x="3419872" y="2168860"/>
              <a:ext cx="1152128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none" w="med" len="med"/>
            </a:ln>
            <a:effectLst/>
          </p:spPr>
        </p:cxnSp>
      </p:grpSp>
      <p:cxnSp>
        <p:nvCxnSpPr>
          <p:cNvPr id="17" name="Прямая со стрелкой 16"/>
          <p:cNvCxnSpPr/>
          <p:nvPr/>
        </p:nvCxnSpPr>
        <p:spPr bwMode="auto">
          <a:xfrm flipH="1">
            <a:off x="6156176" y="2204864"/>
            <a:ext cx="28803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6516216" y="19888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21" name="Заголовок 1"/>
          <p:cNvSpPr txBox="1">
            <a:spLocks/>
          </p:cNvSpPr>
          <p:nvPr/>
        </p:nvSpPr>
        <p:spPr bwMode="auto">
          <a:xfrm>
            <a:off x="1763688" y="3861048"/>
            <a:ext cx="6248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SHL </a:t>
            </a:r>
            <a:r>
              <a:rPr kumimoji="0" lang="ru-RU" sz="3600" b="1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операнд</a:t>
            </a:r>
            <a:r>
              <a:rPr kumimoji="0" 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ru-RU" sz="3600" b="1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, </a:t>
            </a:r>
            <a:r>
              <a:rPr kumimoji="0" 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0" lang="ru-RU" sz="3600" b="1" i="1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800" y="838200"/>
            <a:ext cx="6248400" cy="1726704"/>
          </a:xfrm>
        </p:spPr>
        <p:txBody>
          <a:bodyPr/>
          <a:lstStyle/>
          <a:p>
            <a:pPr algn="ctr"/>
            <a:r>
              <a:rPr lang="ru-RU" dirty="0" smtClean="0"/>
              <a:t>Быстрое умножение и деление беззнаковых чисел</a:t>
            </a:r>
            <a:br>
              <a:rPr lang="ru-RU" dirty="0" smtClean="0"/>
            </a:br>
            <a:r>
              <a:rPr lang="ru-RU" dirty="0" smtClean="0"/>
              <a:t>на степени 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907704" y="2708920"/>
            <a:ext cx="5791200" cy="3168352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</a:rPr>
              <a:t>Умножение на 2</a:t>
            </a:r>
            <a:r>
              <a:rPr lang="en-US" dirty="0" smtClean="0">
                <a:solidFill>
                  <a:schemeClr val="tx1"/>
                </a:solidFill>
              </a:rPr>
              <a:t>^k: </a:t>
            </a:r>
            <a:r>
              <a:rPr lang="en-US" b="1" dirty="0" smtClean="0">
                <a:solidFill>
                  <a:schemeClr val="tx1"/>
                </a:solidFill>
              </a:rPr>
              <a:t>x=x*2^k</a:t>
            </a:r>
          </a:p>
          <a:p>
            <a:pPr>
              <a:buNone/>
            </a:pPr>
            <a:r>
              <a:rPr lang="en-US" dirty="0" smtClean="0"/>
              <a:t>	MOV CL, k</a:t>
            </a:r>
          </a:p>
          <a:p>
            <a:pPr>
              <a:buNone/>
            </a:pPr>
            <a:r>
              <a:rPr lang="en-US" dirty="0" smtClean="0"/>
              <a:t>	SHL x, CL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solidFill>
                  <a:schemeClr val="tx1"/>
                </a:solidFill>
              </a:rPr>
              <a:t>Деление на 2</a:t>
            </a:r>
            <a:r>
              <a:rPr lang="en-US" dirty="0" smtClean="0">
                <a:solidFill>
                  <a:schemeClr val="tx1"/>
                </a:solidFill>
              </a:rPr>
              <a:t>^k: </a:t>
            </a:r>
            <a:r>
              <a:rPr lang="en-US" b="1" dirty="0" smtClean="0">
                <a:solidFill>
                  <a:schemeClr val="tx1"/>
                </a:solidFill>
              </a:rPr>
              <a:t>x=x/2^k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MOV CL, k</a:t>
            </a:r>
          </a:p>
          <a:p>
            <a:pPr>
              <a:buNone/>
            </a:pPr>
            <a:r>
              <a:rPr lang="en-US" dirty="0" smtClean="0"/>
              <a:t>	SHR x, CL</a:t>
            </a:r>
          </a:p>
        </p:txBody>
      </p:sp>
    </p:spTree>
  </p:cSld>
  <p:clrMapOvr>
    <a:masterClrMapping/>
  </p:clrMapOvr>
  <p:transition spd="med">
    <p:wipe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SAL </a:t>
            </a:r>
            <a:r>
              <a:rPr lang="ru-RU" dirty="0" smtClean="0"/>
              <a:t>операнд</a:t>
            </a:r>
            <a:r>
              <a:rPr lang="en-US" dirty="0" smtClean="0"/>
              <a:t>1</a:t>
            </a:r>
            <a:r>
              <a:rPr lang="ru-RU" dirty="0" smtClean="0"/>
              <a:t>, операнд2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907704" y="1628800"/>
            <a:ext cx="5791200" cy="4493095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MOV BH, 10001110b</a:t>
            </a:r>
          </a:p>
          <a:p>
            <a:pPr>
              <a:buNone/>
            </a:pPr>
            <a:r>
              <a:rPr lang="en-US" dirty="0" smtClean="0"/>
              <a:t>	SAR BH, 1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ru-RU" dirty="0" smtClean="0"/>
              <a:t>Результат: </a:t>
            </a:r>
            <a:r>
              <a:rPr lang="en-US" dirty="0" smtClean="0"/>
              <a:t>CF=0, BH=11000111b</a:t>
            </a:r>
            <a:endParaRPr lang="ru-RU" dirty="0" smtClean="0"/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MOV BH, 00001110b</a:t>
            </a:r>
          </a:p>
          <a:p>
            <a:pPr>
              <a:buNone/>
            </a:pPr>
            <a:r>
              <a:rPr lang="en-US" dirty="0" smtClean="0"/>
              <a:t>	SAR BH, 1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Результат: </a:t>
            </a:r>
            <a:r>
              <a:rPr lang="en-US" dirty="0" smtClean="0"/>
              <a:t>CF=0, BH=</a:t>
            </a:r>
            <a:r>
              <a:rPr lang="ru-RU" dirty="0" smtClean="0"/>
              <a:t>00000111</a:t>
            </a:r>
            <a:r>
              <a:rPr lang="en-US" dirty="0" smtClean="0"/>
              <a:t>b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</p:txBody>
      </p:sp>
      <p:sp>
        <p:nvSpPr>
          <p:cNvPr id="21" name="Заголовок 1"/>
          <p:cNvSpPr txBox="1">
            <a:spLocks/>
          </p:cNvSpPr>
          <p:nvPr/>
        </p:nvSpPr>
        <p:spPr bwMode="auto">
          <a:xfrm>
            <a:off x="1259632" y="1700808"/>
            <a:ext cx="6248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</a:t>
            </a:r>
            <a:r>
              <a:rPr lang="en-US" sz="3600" b="1" i="1" kern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AR</a:t>
            </a:r>
            <a:r>
              <a:rPr kumimoji="0" 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3600" b="1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операнд</a:t>
            </a:r>
            <a:r>
              <a:rPr kumimoji="0" 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ru-RU" sz="3600" b="1" i="1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, операнд2</a:t>
            </a:r>
            <a:endParaRPr kumimoji="0" lang="ru-RU" sz="3600" b="1" i="1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ROL </a:t>
            </a:r>
            <a:r>
              <a:rPr lang="ru-RU" dirty="0" smtClean="0"/>
              <a:t>операнд1, операнд2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Сдвиг влево на один разряд: </a:t>
            </a:r>
            <a:r>
              <a:rPr lang="en-US" dirty="0" smtClean="0"/>
              <a:t>ROL AL, 1</a:t>
            </a:r>
            <a:endParaRPr lang="ru-RU" dirty="0" smtClean="0"/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Сдвиг влево на три разряда:</a:t>
            </a:r>
          </a:p>
          <a:p>
            <a:pPr>
              <a:buNone/>
            </a:pPr>
            <a:r>
              <a:rPr lang="ru-RU" dirty="0" smtClean="0"/>
              <a:t>	</a:t>
            </a:r>
            <a:r>
              <a:rPr lang="en-US" dirty="0" smtClean="0"/>
              <a:t>MOV CL, 3</a:t>
            </a:r>
          </a:p>
          <a:p>
            <a:pPr>
              <a:buNone/>
            </a:pPr>
            <a:r>
              <a:rPr lang="en-US" dirty="0" smtClean="0"/>
              <a:t>	ROL AL, CL</a:t>
            </a:r>
            <a:endParaRPr lang="ru-RU" dirty="0" smtClean="0"/>
          </a:p>
          <a:p>
            <a:pPr>
              <a:buNone/>
            </a:pPr>
            <a:endParaRPr lang="ru-RU" dirty="0"/>
          </a:p>
        </p:txBody>
      </p:sp>
      <p:cxnSp>
        <p:nvCxnSpPr>
          <p:cNvPr id="20" name="Прямая соединительная линия 19"/>
          <p:cNvCxnSpPr/>
          <p:nvPr/>
        </p:nvCxnSpPr>
        <p:spPr bwMode="auto">
          <a:xfrm>
            <a:off x="5868144" y="2060848"/>
            <a:ext cx="0" cy="5040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Прямая соединительная линия 20"/>
          <p:cNvCxnSpPr/>
          <p:nvPr/>
        </p:nvCxnSpPr>
        <p:spPr bwMode="auto">
          <a:xfrm>
            <a:off x="5508104" y="2060848"/>
            <a:ext cx="0" cy="5040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" name="Группа 16"/>
          <p:cNvGrpSpPr/>
          <p:nvPr/>
        </p:nvGrpSpPr>
        <p:grpSpPr>
          <a:xfrm>
            <a:off x="3131840" y="1700808"/>
            <a:ext cx="3108394" cy="1080120"/>
            <a:chOff x="3131840" y="1700808"/>
            <a:chExt cx="3108394" cy="1080120"/>
          </a:xfrm>
        </p:grpSpPr>
        <p:sp>
          <p:nvSpPr>
            <p:cNvPr id="18" name="Прямоугольник 17"/>
            <p:cNvSpPr/>
            <p:nvPr/>
          </p:nvSpPr>
          <p:spPr bwMode="auto">
            <a:xfrm>
              <a:off x="3203848" y="2060848"/>
              <a:ext cx="288032" cy="50405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Прямоугольник 18"/>
            <p:cNvSpPr/>
            <p:nvPr/>
          </p:nvSpPr>
          <p:spPr bwMode="auto">
            <a:xfrm>
              <a:off x="3491880" y="2060848"/>
              <a:ext cx="2736304" cy="50405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 smtClean="0">
                  <a:latin typeface="Arial" charset="0"/>
                </a:rPr>
                <a:t>             </a:t>
              </a: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…</a:t>
              </a: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22" name="Прямая со стрелкой 21"/>
            <p:cNvCxnSpPr/>
            <p:nvPr/>
          </p:nvCxnSpPr>
          <p:spPr bwMode="auto">
            <a:xfrm flipH="1">
              <a:off x="5724128" y="2348880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3" name="Прямая со стрелкой 22"/>
            <p:cNvCxnSpPr/>
            <p:nvPr/>
          </p:nvCxnSpPr>
          <p:spPr bwMode="auto">
            <a:xfrm flipH="1">
              <a:off x="5292080" y="2348880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4" name="TextBox 23"/>
            <p:cNvSpPr txBox="1"/>
            <p:nvPr/>
          </p:nvSpPr>
          <p:spPr>
            <a:xfrm>
              <a:off x="5580112" y="170080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ru-RU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940152" y="170080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0</a:t>
              </a:r>
              <a:endParaRPr lang="ru-RU" dirty="0"/>
            </a:p>
          </p:txBody>
        </p:sp>
        <p:cxnSp>
          <p:nvCxnSpPr>
            <p:cNvPr id="27" name="Прямая соединительная линия 26"/>
            <p:cNvCxnSpPr/>
            <p:nvPr/>
          </p:nvCxnSpPr>
          <p:spPr bwMode="auto">
            <a:xfrm>
              <a:off x="6084168" y="2564904"/>
              <a:ext cx="0" cy="21602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none" w="med" len="med"/>
            </a:ln>
            <a:effectLst/>
          </p:spPr>
        </p:cxnSp>
        <p:cxnSp>
          <p:nvCxnSpPr>
            <p:cNvPr id="28" name="Прямая соединительная линия 27"/>
            <p:cNvCxnSpPr/>
            <p:nvPr/>
          </p:nvCxnSpPr>
          <p:spPr bwMode="auto">
            <a:xfrm flipH="1">
              <a:off x="3347864" y="2780928"/>
              <a:ext cx="273630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Прямая со стрелкой 28"/>
            <p:cNvCxnSpPr>
              <a:endCxn id="18" idx="2"/>
            </p:cNvCxnSpPr>
            <p:nvPr/>
          </p:nvCxnSpPr>
          <p:spPr bwMode="auto">
            <a:xfrm flipV="1">
              <a:off x="3347864" y="2564904"/>
              <a:ext cx="0" cy="21602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7" name="TextBox 36"/>
            <p:cNvSpPr txBox="1"/>
            <p:nvPr/>
          </p:nvSpPr>
          <p:spPr>
            <a:xfrm>
              <a:off x="3131840" y="170080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15</a:t>
              </a:r>
              <a:endParaRPr lang="ru-RU" dirty="0"/>
            </a:p>
          </p:txBody>
        </p:sp>
        <p:cxnSp>
          <p:nvCxnSpPr>
            <p:cNvPr id="38" name="Прямая со стрелкой 37"/>
            <p:cNvCxnSpPr/>
            <p:nvPr/>
          </p:nvCxnSpPr>
          <p:spPr bwMode="auto">
            <a:xfrm flipH="1">
              <a:off x="3347864" y="2348880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RCL </a:t>
            </a:r>
            <a:r>
              <a:rPr lang="ru-RU" dirty="0" smtClean="0"/>
              <a:t>операнд1, операнд2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Сдвиг влево на один разряд: </a:t>
            </a:r>
            <a:r>
              <a:rPr lang="en-US" dirty="0" smtClean="0"/>
              <a:t>RCL AL, 1</a:t>
            </a:r>
            <a:endParaRPr lang="ru-RU" dirty="0" smtClean="0"/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Сдвиг влево на три разряда:</a:t>
            </a:r>
          </a:p>
          <a:p>
            <a:pPr>
              <a:buNone/>
            </a:pPr>
            <a:r>
              <a:rPr lang="ru-RU" dirty="0" smtClean="0"/>
              <a:t>	</a:t>
            </a:r>
            <a:r>
              <a:rPr lang="en-US" dirty="0" smtClean="0"/>
              <a:t>MOV CL, 3</a:t>
            </a:r>
          </a:p>
          <a:p>
            <a:pPr>
              <a:buNone/>
            </a:pPr>
            <a:r>
              <a:rPr lang="en-US" dirty="0" smtClean="0"/>
              <a:t>	RCL AL, CL</a:t>
            </a:r>
            <a:endParaRPr lang="ru-RU" dirty="0"/>
          </a:p>
        </p:txBody>
      </p:sp>
      <p:grpSp>
        <p:nvGrpSpPr>
          <p:cNvPr id="6" name="Группа 28"/>
          <p:cNvGrpSpPr/>
          <p:nvPr/>
        </p:nvGrpSpPr>
        <p:grpSpPr>
          <a:xfrm>
            <a:off x="2843808" y="1556792"/>
            <a:ext cx="3324418" cy="1080120"/>
            <a:chOff x="2843808" y="1556792"/>
            <a:chExt cx="3324418" cy="1080120"/>
          </a:xfrm>
        </p:grpSpPr>
        <p:sp>
          <p:nvSpPr>
            <p:cNvPr id="4" name="Прямоугольник 3"/>
            <p:cNvSpPr/>
            <p:nvPr/>
          </p:nvSpPr>
          <p:spPr bwMode="auto">
            <a:xfrm>
              <a:off x="2843808" y="1916832"/>
              <a:ext cx="576064" cy="50405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CF</a:t>
              </a: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" name="Прямоугольник 4"/>
            <p:cNvSpPr/>
            <p:nvPr/>
          </p:nvSpPr>
          <p:spPr bwMode="auto">
            <a:xfrm>
              <a:off x="4572000" y="1916832"/>
              <a:ext cx="1584176" cy="50405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   …</a:t>
              </a: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7" name="Прямая соединительная линия 6"/>
            <p:cNvCxnSpPr/>
            <p:nvPr/>
          </p:nvCxnSpPr>
          <p:spPr bwMode="auto">
            <a:xfrm>
              <a:off x="5796136" y="1916832"/>
              <a:ext cx="0" cy="50405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Прямая соединительная линия 8"/>
            <p:cNvCxnSpPr/>
            <p:nvPr/>
          </p:nvCxnSpPr>
          <p:spPr bwMode="auto">
            <a:xfrm>
              <a:off x="5436096" y="1916832"/>
              <a:ext cx="0" cy="50405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Прямая со стрелкой 10"/>
            <p:cNvCxnSpPr/>
            <p:nvPr/>
          </p:nvCxnSpPr>
          <p:spPr bwMode="auto">
            <a:xfrm flipH="1">
              <a:off x="5652120" y="2204864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2" name="Прямая со стрелкой 11"/>
            <p:cNvCxnSpPr/>
            <p:nvPr/>
          </p:nvCxnSpPr>
          <p:spPr bwMode="auto">
            <a:xfrm flipH="1">
              <a:off x="5220072" y="2204864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3" name="TextBox 12"/>
            <p:cNvSpPr txBox="1"/>
            <p:nvPr/>
          </p:nvSpPr>
          <p:spPr>
            <a:xfrm>
              <a:off x="5508104" y="155679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ru-RU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868144" y="155679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0</a:t>
              </a:r>
              <a:endParaRPr lang="ru-RU" dirty="0"/>
            </a:p>
          </p:txBody>
        </p:sp>
        <p:cxnSp>
          <p:nvCxnSpPr>
            <p:cNvPr id="16" name="Прямая соединительная линия 15"/>
            <p:cNvCxnSpPr>
              <a:stCxn id="4" idx="3"/>
              <a:endCxn id="5" idx="1"/>
            </p:cNvCxnSpPr>
            <p:nvPr/>
          </p:nvCxnSpPr>
          <p:spPr bwMode="auto">
            <a:xfrm>
              <a:off x="3419872" y="2168860"/>
              <a:ext cx="1152128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none" w="med" len="med"/>
            </a:ln>
            <a:effectLst/>
          </p:spPr>
        </p:cxnSp>
        <p:cxnSp>
          <p:nvCxnSpPr>
            <p:cNvPr id="18" name="Прямая соединительная линия 17"/>
            <p:cNvCxnSpPr/>
            <p:nvPr/>
          </p:nvCxnSpPr>
          <p:spPr bwMode="auto">
            <a:xfrm>
              <a:off x="6012160" y="2420888"/>
              <a:ext cx="0" cy="21602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none" w="med" len="med"/>
            </a:ln>
            <a:effectLst/>
          </p:spPr>
        </p:cxnSp>
        <p:cxnSp>
          <p:nvCxnSpPr>
            <p:cNvPr id="20" name="Прямая соединительная линия 19"/>
            <p:cNvCxnSpPr/>
            <p:nvPr/>
          </p:nvCxnSpPr>
          <p:spPr bwMode="auto">
            <a:xfrm flipH="1">
              <a:off x="3131840" y="2636912"/>
              <a:ext cx="288032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Прямая со стрелкой 21"/>
            <p:cNvCxnSpPr>
              <a:endCxn id="4" idx="2"/>
            </p:cNvCxnSpPr>
            <p:nvPr/>
          </p:nvCxnSpPr>
          <p:spPr bwMode="auto">
            <a:xfrm flipV="1">
              <a:off x="3131840" y="2420888"/>
              <a:ext cx="0" cy="21602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ROR </a:t>
            </a:r>
            <a:r>
              <a:rPr lang="ru-RU" dirty="0" smtClean="0"/>
              <a:t>операнд1, операнд2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Сдвиг вправо на один разряд: </a:t>
            </a:r>
            <a:r>
              <a:rPr lang="en-US" dirty="0" smtClean="0"/>
              <a:t>ROR AL, 1</a:t>
            </a:r>
            <a:endParaRPr lang="ru-RU" dirty="0" smtClean="0"/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Сдвиг вправо на три разряда:</a:t>
            </a:r>
          </a:p>
          <a:p>
            <a:pPr>
              <a:buNone/>
            </a:pPr>
            <a:r>
              <a:rPr lang="ru-RU" dirty="0" smtClean="0"/>
              <a:t>	</a:t>
            </a:r>
            <a:r>
              <a:rPr lang="en-US" dirty="0" smtClean="0"/>
              <a:t>MOV CL, 3</a:t>
            </a:r>
          </a:p>
          <a:p>
            <a:pPr>
              <a:buNone/>
            </a:pPr>
            <a:r>
              <a:rPr lang="en-US" dirty="0" smtClean="0"/>
              <a:t>	ROR AL, CL</a:t>
            </a:r>
            <a:endParaRPr lang="ru-RU" dirty="0" smtClean="0"/>
          </a:p>
          <a:p>
            <a:pPr>
              <a:buNone/>
            </a:pPr>
            <a:endParaRPr lang="ru-RU" dirty="0"/>
          </a:p>
        </p:txBody>
      </p:sp>
      <p:cxnSp>
        <p:nvCxnSpPr>
          <p:cNvPr id="20" name="Прямая соединительная линия 19"/>
          <p:cNvCxnSpPr/>
          <p:nvPr/>
        </p:nvCxnSpPr>
        <p:spPr bwMode="auto">
          <a:xfrm>
            <a:off x="5868144" y="2060848"/>
            <a:ext cx="0" cy="5040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Прямая соединительная линия 20"/>
          <p:cNvCxnSpPr/>
          <p:nvPr/>
        </p:nvCxnSpPr>
        <p:spPr bwMode="auto">
          <a:xfrm>
            <a:off x="5508104" y="2060848"/>
            <a:ext cx="0" cy="5040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Прямая со стрелкой 16"/>
          <p:cNvCxnSpPr>
            <a:stCxn id="18" idx="3"/>
            <a:endCxn id="19" idx="1"/>
          </p:cNvCxnSpPr>
          <p:nvPr/>
        </p:nvCxnSpPr>
        <p:spPr bwMode="auto">
          <a:xfrm>
            <a:off x="3491880" y="2312876"/>
            <a:ext cx="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35" name="Группа 34"/>
          <p:cNvGrpSpPr/>
          <p:nvPr/>
        </p:nvGrpSpPr>
        <p:grpSpPr>
          <a:xfrm>
            <a:off x="3131840" y="1700808"/>
            <a:ext cx="3108394" cy="1080120"/>
            <a:chOff x="3131840" y="1700808"/>
            <a:chExt cx="3108394" cy="1080120"/>
          </a:xfrm>
        </p:grpSpPr>
        <p:sp>
          <p:nvSpPr>
            <p:cNvPr id="18" name="Прямоугольник 17"/>
            <p:cNvSpPr/>
            <p:nvPr/>
          </p:nvSpPr>
          <p:spPr bwMode="auto">
            <a:xfrm>
              <a:off x="3203848" y="2060848"/>
              <a:ext cx="288032" cy="50405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Прямоугольник 18"/>
            <p:cNvSpPr/>
            <p:nvPr/>
          </p:nvSpPr>
          <p:spPr bwMode="auto">
            <a:xfrm>
              <a:off x="3491880" y="2060848"/>
              <a:ext cx="2736304" cy="50405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 smtClean="0">
                  <a:latin typeface="Arial" charset="0"/>
                </a:rPr>
                <a:t>             </a:t>
              </a: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…</a:t>
              </a: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580112" y="170080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ru-RU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940152" y="170080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0</a:t>
              </a:r>
              <a:endParaRPr lang="ru-RU" dirty="0"/>
            </a:p>
          </p:txBody>
        </p:sp>
        <p:cxnSp>
          <p:nvCxnSpPr>
            <p:cNvPr id="27" name="Прямая соединительная линия 26"/>
            <p:cNvCxnSpPr/>
            <p:nvPr/>
          </p:nvCxnSpPr>
          <p:spPr bwMode="auto">
            <a:xfrm>
              <a:off x="6084168" y="2564904"/>
              <a:ext cx="0" cy="21602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Прямая соединительная линия 27"/>
            <p:cNvCxnSpPr/>
            <p:nvPr/>
          </p:nvCxnSpPr>
          <p:spPr bwMode="auto">
            <a:xfrm flipH="1">
              <a:off x="3347864" y="2780928"/>
              <a:ext cx="273630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Прямая со стрелкой 28"/>
            <p:cNvCxnSpPr>
              <a:endCxn id="18" idx="2"/>
            </p:cNvCxnSpPr>
            <p:nvPr/>
          </p:nvCxnSpPr>
          <p:spPr bwMode="auto">
            <a:xfrm flipV="1">
              <a:off x="3347864" y="2564904"/>
              <a:ext cx="0" cy="21602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7" name="TextBox 36"/>
            <p:cNvSpPr txBox="1"/>
            <p:nvPr/>
          </p:nvSpPr>
          <p:spPr>
            <a:xfrm>
              <a:off x="3131840" y="170080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15</a:t>
              </a:r>
              <a:endParaRPr lang="ru-RU" dirty="0"/>
            </a:p>
          </p:txBody>
        </p:sp>
        <p:cxnSp>
          <p:nvCxnSpPr>
            <p:cNvPr id="32" name="Прямая со стрелкой 31"/>
            <p:cNvCxnSpPr/>
            <p:nvPr/>
          </p:nvCxnSpPr>
          <p:spPr bwMode="auto">
            <a:xfrm>
              <a:off x="3347864" y="2348880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3" name="Прямая со стрелкой 32"/>
            <p:cNvCxnSpPr/>
            <p:nvPr/>
          </p:nvCxnSpPr>
          <p:spPr bwMode="auto">
            <a:xfrm>
              <a:off x="5436096" y="2348880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4" name="Прямая со стрелкой 33"/>
            <p:cNvCxnSpPr/>
            <p:nvPr/>
          </p:nvCxnSpPr>
          <p:spPr bwMode="auto">
            <a:xfrm>
              <a:off x="5796136" y="2348880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RCR </a:t>
            </a:r>
            <a:r>
              <a:rPr lang="ru-RU" dirty="0" smtClean="0"/>
              <a:t>операнд1, операнд2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Сдвиг вправо на один разряд: </a:t>
            </a:r>
            <a:r>
              <a:rPr lang="en-US" dirty="0" smtClean="0"/>
              <a:t>RCR AL, 1</a:t>
            </a:r>
            <a:endParaRPr lang="ru-RU" dirty="0" smtClean="0"/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Сдвиг вправо на три разряда:</a:t>
            </a:r>
          </a:p>
          <a:p>
            <a:pPr>
              <a:buNone/>
            </a:pPr>
            <a:r>
              <a:rPr lang="ru-RU" dirty="0" smtClean="0"/>
              <a:t>	</a:t>
            </a:r>
            <a:r>
              <a:rPr lang="en-US" dirty="0" smtClean="0"/>
              <a:t>MOV CL, 3</a:t>
            </a:r>
          </a:p>
          <a:p>
            <a:pPr>
              <a:buNone/>
            </a:pPr>
            <a:r>
              <a:rPr lang="en-US" dirty="0" smtClean="0"/>
              <a:t>	RCR AL, CL</a:t>
            </a:r>
            <a:endParaRPr lang="ru-RU" dirty="0"/>
          </a:p>
        </p:txBody>
      </p:sp>
      <p:cxnSp>
        <p:nvCxnSpPr>
          <p:cNvPr id="7" name="Прямая соединительная линия 6"/>
          <p:cNvCxnSpPr/>
          <p:nvPr/>
        </p:nvCxnSpPr>
        <p:spPr bwMode="auto">
          <a:xfrm>
            <a:off x="5796136" y="1916832"/>
            <a:ext cx="0" cy="5040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Прямая соединительная линия 8"/>
          <p:cNvCxnSpPr/>
          <p:nvPr/>
        </p:nvCxnSpPr>
        <p:spPr bwMode="auto">
          <a:xfrm>
            <a:off x="5436096" y="1916832"/>
            <a:ext cx="0" cy="5040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7" name="Группа 16"/>
          <p:cNvGrpSpPr/>
          <p:nvPr/>
        </p:nvGrpSpPr>
        <p:grpSpPr>
          <a:xfrm>
            <a:off x="2843808" y="1556792"/>
            <a:ext cx="3324418" cy="1080120"/>
            <a:chOff x="2843808" y="1556792"/>
            <a:chExt cx="3324418" cy="1080120"/>
          </a:xfrm>
        </p:grpSpPr>
        <p:sp>
          <p:nvSpPr>
            <p:cNvPr id="4" name="Прямоугольник 3"/>
            <p:cNvSpPr/>
            <p:nvPr/>
          </p:nvSpPr>
          <p:spPr bwMode="auto">
            <a:xfrm>
              <a:off x="2843808" y="1916832"/>
              <a:ext cx="576064" cy="50405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CF</a:t>
              </a: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" name="Прямоугольник 4"/>
            <p:cNvSpPr/>
            <p:nvPr/>
          </p:nvSpPr>
          <p:spPr bwMode="auto">
            <a:xfrm>
              <a:off x="4572000" y="1916832"/>
              <a:ext cx="1584176" cy="50405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   …</a:t>
              </a: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1" name="Прямая со стрелкой 10"/>
            <p:cNvCxnSpPr/>
            <p:nvPr/>
          </p:nvCxnSpPr>
          <p:spPr bwMode="auto">
            <a:xfrm flipH="1">
              <a:off x="5724128" y="2204864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none"/>
            </a:ln>
            <a:effectLst/>
          </p:spPr>
        </p:cxnSp>
        <p:cxnSp>
          <p:nvCxnSpPr>
            <p:cNvPr id="12" name="Прямая со стрелкой 11"/>
            <p:cNvCxnSpPr/>
            <p:nvPr/>
          </p:nvCxnSpPr>
          <p:spPr bwMode="auto">
            <a:xfrm flipH="1">
              <a:off x="5364088" y="2204864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none"/>
            </a:ln>
            <a:effectLst/>
          </p:spPr>
        </p:cxnSp>
        <p:sp>
          <p:nvSpPr>
            <p:cNvPr id="13" name="TextBox 12"/>
            <p:cNvSpPr txBox="1"/>
            <p:nvPr/>
          </p:nvSpPr>
          <p:spPr>
            <a:xfrm>
              <a:off x="5508104" y="155679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ru-RU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868144" y="155679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0</a:t>
              </a:r>
              <a:endParaRPr lang="ru-RU" dirty="0"/>
            </a:p>
          </p:txBody>
        </p:sp>
        <p:cxnSp>
          <p:nvCxnSpPr>
            <p:cNvPr id="16" name="Прямая соединительная линия 15"/>
            <p:cNvCxnSpPr>
              <a:stCxn id="4" idx="3"/>
              <a:endCxn id="5" idx="1"/>
            </p:cNvCxnSpPr>
            <p:nvPr/>
          </p:nvCxnSpPr>
          <p:spPr bwMode="auto">
            <a:xfrm>
              <a:off x="3419872" y="2168860"/>
              <a:ext cx="1152128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18" name="Прямая соединительная линия 17"/>
            <p:cNvCxnSpPr/>
            <p:nvPr/>
          </p:nvCxnSpPr>
          <p:spPr bwMode="auto">
            <a:xfrm>
              <a:off x="6012160" y="2420888"/>
              <a:ext cx="0" cy="21602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Прямая соединительная линия 19"/>
            <p:cNvCxnSpPr/>
            <p:nvPr/>
          </p:nvCxnSpPr>
          <p:spPr bwMode="auto">
            <a:xfrm flipH="1">
              <a:off x="3131840" y="2636912"/>
              <a:ext cx="288032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Прямая со стрелкой 21"/>
            <p:cNvCxnSpPr>
              <a:endCxn id="4" idx="2"/>
            </p:cNvCxnSpPr>
            <p:nvPr/>
          </p:nvCxnSpPr>
          <p:spPr bwMode="auto">
            <a:xfrm flipV="1">
              <a:off x="3131840" y="2420888"/>
              <a:ext cx="0" cy="21602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Задача №</a:t>
            </a:r>
            <a:r>
              <a:rPr lang="en-US" dirty="0" smtClean="0"/>
              <a:t>9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63688" y="1412776"/>
            <a:ext cx="6048672" cy="4680520"/>
          </a:xfrm>
        </p:spPr>
        <p:txBody>
          <a:bodyPr/>
          <a:lstStyle/>
          <a:p>
            <a:pPr>
              <a:buNone/>
            </a:pPr>
            <a:r>
              <a:rPr lang="ru-RU" sz="2300" dirty="0" smtClean="0"/>
              <a:t>Установить первый и третий биты содержимого регистра </a:t>
            </a:r>
            <a:r>
              <a:rPr lang="en-US" sz="2300" dirty="0" smtClean="0"/>
              <a:t>BL </a:t>
            </a:r>
            <a:r>
              <a:rPr lang="ru-RU" sz="2300" dirty="0" smtClean="0"/>
              <a:t>в «0», а второй и четвертый биты –</a:t>
            </a:r>
            <a:r>
              <a:rPr lang="ru-RU" sz="2300" dirty="0"/>
              <a:t> </a:t>
            </a:r>
            <a:r>
              <a:rPr lang="ru-RU" sz="2300" dirty="0" smtClean="0"/>
              <a:t>в «1».</a:t>
            </a:r>
          </a:p>
          <a:p>
            <a:pPr>
              <a:buNone/>
            </a:pPr>
            <a:r>
              <a:rPr lang="ru-RU" sz="2300" dirty="0" smtClean="0"/>
              <a:t>Результат циклически сдвинуть влево через перенос на 5 разрядов.</a:t>
            </a:r>
          </a:p>
          <a:p>
            <a:pPr>
              <a:buNone/>
            </a:pPr>
            <a:r>
              <a:rPr lang="ru-RU" sz="2300" dirty="0" smtClean="0"/>
              <a:t>Проверить состояние первого бита в полученном результате.</a:t>
            </a:r>
            <a:endParaRPr lang="en-US" sz="2300" dirty="0" smtClean="0"/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AND BL, 11111010b (FAh)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OR BL, 00001010b (0Ah)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MOV CL, 5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RCL BL, CL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TEST BL, 00000001b (01h)</a:t>
            </a:r>
            <a:endParaRPr lang="ru-RU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Задача №</a:t>
            </a:r>
            <a:r>
              <a:rPr lang="en-US" dirty="0" smtClean="0"/>
              <a:t>10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63688" y="1628800"/>
            <a:ext cx="5791200" cy="4824536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Содержимое регистра </a:t>
            </a:r>
            <a:r>
              <a:rPr lang="en-US" dirty="0" smtClean="0"/>
              <a:t>DX </a:t>
            </a:r>
            <a:r>
              <a:rPr lang="ru-RU" dirty="0" smtClean="0"/>
              <a:t>циклически сдвинуть на 3 разряда вправо.</a:t>
            </a:r>
          </a:p>
          <a:p>
            <a:pPr>
              <a:buNone/>
            </a:pPr>
            <a:r>
              <a:rPr lang="ru-RU" dirty="0" smtClean="0"/>
              <a:t>Проверить состояние второго, пятого и шестого битов в полученном результате.</a:t>
            </a:r>
            <a:endParaRPr lang="en-US" dirty="0" smtClean="0"/>
          </a:p>
          <a:p>
            <a:pPr algn="ctr">
              <a:buNone/>
            </a:pPr>
            <a:endParaRPr lang="ru-RU" b="1" dirty="0" smtClean="0">
              <a:solidFill>
                <a:schemeClr val="tx1"/>
              </a:solidFill>
            </a:endParaRP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MOV CL, 3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ROR DX, CL</a:t>
            </a:r>
          </a:p>
          <a:p>
            <a:pPr algn="ctr">
              <a:buNone/>
            </a:pPr>
            <a:r>
              <a:rPr lang="en-US" b="1" dirty="0" smtClean="0">
                <a:solidFill>
                  <a:schemeClr val="tx1"/>
                </a:solidFill>
              </a:rPr>
              <a:t>TEST DX, 00110010b (32h)</a:t>
            </a:r>
            <a:endParaRPr lang="ru-RU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Команды языка Ассемблер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3000" b="1" dirty="0" smtClean="0"/>
              <a:t>Команды</a:t>
            </a:r>
          </a:p>
          <a:p>
            <a:r>
              <a:rPr lang="ru-RU" sz="3000" b="1" dirty="0" smtClean="0"/>
              <a:t>передачи управления</a:t>
            </a:r>
            <a:endParaRPr lang="ru-RU" sz="3000" b="1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800" y="838200"/>
            <a:ext cx="6248400" cy="1006624"/>
          </a:xfrm>
        </p:spPr>
        <p:txBody>
          <a:bodyPr/>
          <a:lstStyle/>
          <a:p>
            <a:pPr algn="ctr"/>
            <a:r>
              <a:rPr lang="ru-RU" dirty="0" smtClean="0"/>
              <a:t>Безусловный переход</a:t>
            </a:r>
            <a:br>
              <a:rPr lang="ru-RU" dirty="0" smtClean="0"/>
            </a:br>
            <a:r>
              <a:rPr lang="en-US" dirty="0" smtClean="0"/>
              <a:t>JMP </a:t>
            </a:r>
            <a:r>
              <a:rPr lang="ru-RU" dirty="0" smtClean="0"/>
              <a:t>метка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619672" y="2132856"/>
            <a:ext cx="5791200" cy="864096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JMP L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где </a:t>
            </a:r>
            <a:r>
              <a:rPr lang="en-US" dirty="0" smtClean="0"/>
              <a:t>L – </a:t>
            </a:r>
            <a:r>
              <a:rPr lang="ru-RU" dirty="0" smtClean="0"/>
              <a:t>имя метки</a:t>
            </a:r>
            <a:endParaRPr lang="en-US" dirty="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800" y="838200"/>
            <a:ext cx="6248400" cy="1222648"/>
          </a:xfrm>
        </p:spPr>
        <p:txBody>
          <a:bodyPr/>
          <a:lstStyle/>
          <a:p>
            <a:pPr algn="ctr"/>
            <a:r>
              <a:rPr lang="ru-RU" dirty="0" smtClean="0"/>
              <a:t>Условный переход</a:t>
            </a:r>
            <a:br>
              <a:rPr lang="ru-RU" dirty="0" smtClean="0"/>
            </a:br>
            <a:r>
              <a:rPr lang="en-US" dirty="0" err="1" smtClean="0"/>
              <a:t>Jxx</a:t>
            </a:r>
            <a:r>
              <a:rPr lang="en-US" dirty="0" smtClean="0"/>
              <a:t> </a:t>
            </a:r>
            <a:r>
              <a:rPr lang="ru-RU" dirty="0" smtClean="0"/>
              <a:t>метка</a:t>
            </a:r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1475656" y="2204864"/>
            <a:ext cx="6248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600" b="1" i="1" kern="0" dirty="0" smtClean="0">
                <a:latin typeface="+mj-lt"/>
                <a:ea typeface="+mj-ea"/>
                <a:cs typeface="+mj-cs"/>
              </a:rPr>
              <a:t>Разновидности команды</a:t>
            </a:r>
            <a:r>
              <a:rPr kumimoji="0" lang="ru-RU" sz="26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:</a:t>
            </a:r>
            <a:endParaRPr kumimoji="0" lang="ru-RU" sz="26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123728" y="2924944"/>
          <a:ext cx="5663952" cy="2956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56184"/>
                <a:gridCol w="2160240"/>
                <a:gridCol w="184752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МНЕМОНИКА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ПЕРЕЙТИ,</a:t>
                      </a:r>
                      <a:endParaRPr lang="en-US" sz="1600" baseline="0" dirty="0" smtClean="0"/>
                    </a:p>
                    <a:p>
                      <a:pPr algn="ctr"/>
                      <a:r>
                        <a:rPr lang="ru-RU" sz="1600" baseline="0" dirty="0" smtClean="0"/>
                        <a:t>ЕСЛИ …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ПРОВЕРЯЕМЫЕ ФЛАЖКИ</a:t>
                      </a:r>
                      <a:endParaRPr lang="ru-RU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JE</a:t>
                      </a:r>
                      <a:r>
                        <a:rPr lang="ru-RU" sz="2000" b="1" dirty="0" smtClean="0"/>
                        <a:t>*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/>
                        <a:t>равны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ZF=1</a:t>
                      </a:r>
                      <a:endParaRPr lang="ru-R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JNE</a:t>
                      </a:r>
                      <a:r>
                        <a:rPr lang="ru-RU" sz="2000" b="1" dirty="0" smtClean="0"/>
                        <a:t>*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/>
                        <a:t>не равны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ZF=0</a:t>
                      </a:r>
                      <a:endParaRPr lang="ru-R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0070C0"/>
                          </a:solidFill>
                        </a:rPr>
                        <a:t>JB</a:t>
                      </a:r>
                      <a:endParaRPr lang="ru-RU" sz="20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>
                          <a:solidFill>
                            <a:srgbClr val="0070C0"/>
                          </a:solidFill>
                        </a:rPr>
                        <a:t>меньше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70C0"/>
                          </a:solidFill>
                        </a:rPr>
                        <a:t>CF=1; ZF=0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0070C0"/>
                          </a:solidFill>
                        </a:rPr>
                        <a:t>JBE</a:t>
                      </a:r>
                      <a:endParaRPr lang="ru-RU" sz="20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>
                          <a:solidFill>
                            <a:srgbClr val="0070C0"/>
                          </a:solidFill>
                        </a:rPr>
                        <a:t>меньше или равно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70C0"/>
                          </a:solidFill>
                        </a:rPr>
                        <a:t>CF=1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0070C0"/>
                          </a:solidFill>
                        </a:rPr>
                        <a:t>JA</a:t>
                      </a:r>
                      <a:endParaRPr lang="ru-RU" sz="20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>
                          <a:solidFill>
                            <a:srgbClr val="0070C0"/>
                          </a:solidFill>
                        </a:rPr>
                        <a:t>больше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70C0"/>
                          </a:solidFill>
                        </a:rPr>
                        <a:t>CF=0;</a:t>
                      </a:r>
                      <a:r>
                        <a:rPr lang="en-US" b="1" baseline="0" dirty="0" smtClean="0">
                          <a:solidFill>
                            <a:srgbClr val="0070C0"/>
                          </a:solidFill>
                        </a:rPr>
                        <a:t> ZF=0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0070C0"/>
                          </a:solidFill>
                        </a:rPr>
                        <a:t>JAE</a:t>
                      </a:r>
                      <a:endParaRPr lang="ru-RU" sz="20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>
                          <a:solidFill>
                            <a:srgbClr val="0070C0"/>
                          </a:solidFill>
                        </a:rPr>
                        <a:t>больше или равно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70C0"/>
                          </a:solidFill>
                        </a:rPr>
                        <a:t>CF=0; ZF=1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763688" y="1628800"/>
          <a:ext cx="5663952" cy="21640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56184"/>
                <a:gridCol w="2160240"/>
                <a:gridCol w="184752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МНЕМОНИКА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ПЕРЕЙТИ,</a:t>
                      </a:r>
                      <a:endParaRPr lang="en-US" sz="1600" baseline="0" dirty="0" smtClean="0"/>
                    </a:p>
                    <a:p>
                      <a:pPr algn="ctr"/>
                      <a:r>
                        <a:rPr lang="ru-RU" sz="1600" baseline="0" dirty="0" smtClean="0"/>
                        <a:t>ЕСЛИ …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ПРОВЕРЯЕМЫЕ ФЛАЖКИ</a:t>
                      </a:r>
                      <a:endParaRPr lang="ru-RU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7030A0"/>
                          </a:solidFill>
                        </a:rPr>
                        <a:t>JG</a:t>
                      </a:r>
                      <a:endParaRPr lang="ru-RU" sz="20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>
                          <a:solidFill>
                            <a:srgbClr val="7030A0"/>
                          </a:solidFill>
                        </a:rPr>
                        <a:t>больше</a:t>
                      </a:r>
                      <a:endParaRPr lang="ru-RU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7030A0"/>
                          </a:solidFill>
                        </a:rPr>
                        <a:t>JGE</a:t>
                      </a:r>
                      <a:endParaRPr lang="ru-RU" sz="20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>
                          <a:solidFill>
                            <a:srgbClr val="7030A0"/>
                          </a:solidFill>
                        </a:rPr>
                        <a:t>больше или равно</a:t>
                      </a:r>
                      <a:endParaRPr lang="ru-RU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7030A0"/>
                          </a:solidFill>
                        </a:rPr>
                        <a:t>JL</a:t>
                      </a:r>
                      <a:endParaRPr lang="ru-RU" sz="20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>
                          <a:solidFill>
                            <a:srgbClr val="7030A0"/>
                          </a:solidFill>
                        </a:rPr>
                        <a:t>меньше</a:t>
                      </a:r>
                      <a:endParaRPr lang="ru-RU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7030A0"/>
                          </a:solidFill>
                        </a:rPr>
                        <a:t>JLE</a:t>
                      </a:r>
                      <a:endParaRPr lang="ru-RU" sz="20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>
                          <a:solidFill>
                            <a:srgbClr val="7030A0"/>
                          </a:solidFill>
                        </a:rPr>
                        <a:t>меньше или равно</a:t>
                      </a:r>
                      <a:endParaRPr lang="ru-RU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66800" y="838200"/>
            <a:ext cx="6248400" cy="579438"/>
          </a:xfrm>
        </p:spPr>
        <p:txBody>
          <a:bodyPr/>
          <a:lstStyle/>
          <a:p>
            <a:pPr algn="ctr"/>
            <a:r>
              <a:rPr lang="ru-RU" sz="2600" dirty="0" smtClean="0">
                <a:solidFill>
                  <a:schemeClr val="tx1"/>
                </a:solidFill>
              </a:rPr>
              <a:t>Продолжение таблицы</a:t>
            </a:r>
            <a:endParaRPr lang="ru-RU" sz="2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475656" y="1484784"/>
          <a:ext cx="6336703" cy="4785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75219"/>
                <a:gridCol w="2918890"/>
                <a:gridCol w="1742594"/>
              </a:tblGrid>
              <a:tr h="336037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МНЕМОНИКА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ПЕРЕЙТИ,</a:t>
                      </a:r>
                      <a:r>
                        <a:rPr lang="ru-RU" sz="1600" baseline="0" dirty="0" smtClean="0"/>
                        <a:t> ЕСЛИ …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ПРОВЕРЯЕ</a:t>
                      </a:r>
                      <a:r>
                        <a:rPr lang="en-US" sz="1600" dirty="0" smtClean="0"/>
                        <a:t>-</a:t>
                      </a:r>
                      <a:r>
                        <a:rPr lang="ru-RU" sz="1600" dirty="0" smtClean="0"/>
                        <a:t>МЫЕ ФЛАЖКИ</a:t>
                      </a:r>
                      <a:endParaRPr lang="ru-RU" sz="1600" dirty="0"/>
                    </a:p>
                  </a:txBody>
                  <a:tcPr/>
                </a:tc>
              </a:tr>
              <a:tr h="33603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JC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/>
                        <a:t>есть перенос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CF=1</a:t>
                      </a:r>
                      <a:endParaRPr lang="ru-RU" b="1" dirty="0"/>
                    </a:p>
                  </a:txBody>
                  <a:tcPr/>
                </a:tc>
              </a:tr>
              <a:tr h="33603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JNC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/>
                        <a:t>нет переноса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CF=0</a:t>
                      </a:r>
                      <a:endParaRPr lang="ru-RU" b="1" dirty="0"/>
                    </a:p>
                  </a:txBody>
                  <a:tcPr/>
                </a:tc>
              </a:tr>
              <a:tr h="33603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JZ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/>
                        <a:t>результат равен</a:t>
                      </a:r>
                      <a:r>
                        <a:rPr lang="ru-RU" b="1" baseline="0" dirty="0" smtClean="0"/>
                        <a:t> нулю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ZF=1</a:t>
                      </a:r>
                      <a:endParaRPr lang="ru-RU" b="1" dirty="0"/>
                    </a:p>
                  </a:txBody>
                  <a:tcPr/>
                </a:tc>
              </a:tr>
              <a:tr h="33603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JNZ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/>
                        <a:t>результат не равен нулю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ZF=0</a:t>
                      </a:r>
                      <a:endParaRPr lang="ru-RU" b="1" dirty="0"/>
                    </a:p>
                  </a:txBody>
                  <a:tcPr/>
                </a:tc>
              </a:tr>
              <a:tr h="33603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JP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/>
                        <a:t>есть четность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PF=1</a:t>
                      </a:r>
                      <a:endParaRPr lang="ru-RU" b="1" dirty="0"/>
                    </a:p>
                  </a:txBody>
                  <a:tcPr/>
                </a:tc>
              </a:tr>
              <a:tr h="33603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JNP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/>
                        <a:t>нет четности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PF=0</a:t>
                      </a:r>
                      <a:endParaRPr lang="ru-RU" b="1" dirty="0"/>
                    </a:p>
                  </a:txBody>
                  <a:tcPr/>
                </a:tc>
              </a:tr>
              <a:tr h="33603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JS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/>
                        <a:t>знаковый бит равен единице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SF=1</a:t>
                      </a:r>
                      <a:endParaRPr lang="ru-RU" b="1" dirty="0"/>
                    </a:p>
                  </a:txBody>
                  <a:tcPr/>
                </a:tc>
              </a:tr>
              <a:tr h="33603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JNS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/>
                        <a:t>знаковый бит равен нулю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SF=0</a:t>
                      </a:r>
                      <a:endParaRPr lang="ru-RU" b="1" dirty="0"/>
                    </a:p>
                  </a:txBody>
                  <a:tcPr/>
                </a:tc>
              </a:tr>
              <a:tr h="33603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JO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/>
                        <a:t>есть</a:t>
                      </a:r>
                      <a:r>
                        <a:rPr lang="ru-RU" b="1" baseline="0" dirty="0" smtClean="0"/>
                        <a:t> переполнение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OF=1</a:t>
                      </a:r>
                      <a:endParaRPr lang="ru-RU" b="1" dirty="0"/>
                    </a:p>
                  </a:txBody>
                  <a:tcPr/>
                </a:tc>
              </a:tr>
              <a:tr h="33603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JNO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/>
                        <a:t>нет</a:t>
                      </a:r>
                      <a:r>
                        <a:rPr lang="ru-RU" b="1" baseline="0" dirty="0" smtClean="0"/>
                        <a:t> переполнения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OF=0</a:t>
                      </a:r>
                      <a:endParaRPr lang="ru-RU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000" dirty="0" smtClean="0">
                <a:solidFill>
                  <a:schemeClr val="tx1"/>
                </a:solidFill>
              </a:rPr>
              <a:t>Продолжение таблицы</a:t>
            </a:r>
            <a:endParaRPr lang="ru-RU" sz="3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764704"/>
            <a:ext cx="6248400" cy="579438"/>
          </a:xfrm>
        </p:spPr>
        <p:txBody>
          <a:bodyPr/>
          <a:lstStyle/>
          <a:p>
            <a:pPr algn="ctr"/>
            <a:r>
              <a:rPr lang="ru-RU" dirty="0" smtClean="0"/>
              <a:t>Задача №11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47664" y="1268760"/>
            <a:ext cx="6264696" cy="4968552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Сравнить содержимое регистров </a:t>
            </a:r>
            <a:r>
              <a:rPr lang="en-US" dirty="0" smtClean="0"/>
              <a:t>CX </a:t>
            </a:r>
            <a:r>
              <a:rPr lang="ru-RU" dirty="0" smtClean="0"/>
              <a:t>и В</a:t>
            </a:r>
            <a:r>
              <a:rPr lang="en-US" dirty="0" smtClean="0"/>
              <a:t>X.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Если содержимое регистра </a:t>
            </a:r>
            <a:r>
              <a:rPr lang="en-US" dirty="0" smtClean="0"/>
              <a:t>CX </a:t>
            </a:r>
            <a:r>
              <a:rPr lang="ru-RU" dirty="0" smtClean="0"/>
              <a:t>меньше содержимого регистра </a:t>
            </a:r>
            <a:r>
              <a:rPr lang="en-US" dirty="0" smtClean="0"/>
              <a:t>BX</a:t>
            </a:r>
            <a:r>
              <a:rPr lang="ru-RU" dirty="0" smtClean="0"/>
              <a:t>, то содержимое регистра </a:t>
            </a:r>
            <a:r>
              <a:rPr lang="en-US" dirty="0" smtClean="0"/>
              <a:t>BX </a:t>
            </a:r>
            <a:r>
              <a:rPr lang="ru-RU" dirty="0" smtClean="0"/>
              <a:t>увеличить в 2 раза и записать в ячейку памяти, на которую указывает регистр </a:t>
            </a:r>
            <a:r>
              <a:rPr lang="en-US" dirty="0" smtClean="0"/>
              <a:t>SI.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ru-RU" dirty="0" smtClean="0"/>
              <a:t>Если значения регистров </a:t>
            </a:r>
            <a:r>
              <a:rPr lang="en-US" dirty="0" smtClean="0"/>
              <a:t>CX </a:t>
            </a:r>
            <a:r>
              <a:rPr lang="ru-RU" dirty="0" smtClean="0"/>
              <a:t>и </a:t>
            </a:r>
            <a:r>
              <a:rPr lang="en-US" dirty="0" smtClean="0"/>
              <a:t>BX</a:t>
            </a:r>
            <a:r>
              <a:rPr lang="ru-RU" dirty="0" smtClean="0"/>
              <a:t> равны, </a:t>
            </a:r>
            <a:r>
              <a:rPr lang="en-US" dirty="0" smtClean="0"/>
              <a:t>	</a:t>
            </a:r>
            <a:r>
              <a:rPr lang="ru-RU" dirty="0" smtClean="0"/>
              <a:t>то содержимое регистра </a:t>
            </a:r>
            <a:r>
              <a:rPr lang="en-US" dirty="0" smtClean="0"/>
              <a:t>CX </a:t>
            </a:r>
            <a:r>
              <a:rPr lang="ru-RU" dirty="0" smtClean="0"/>
              <a:t>записать </a:t>
            </a:r>
            <a:r>
              <a:rPr lang="en-US" dirty="0" smtClean="0"/>
              <a:t>	</a:t>
            </a:r>
            <a:r>
              <a:rPr lang="ru-RU" dirty="0" smtClean="0"/>
              <a:t>в ячейку памяти, на которую </a:t>
            </a:r>
            <a:r>
              <a:rPr lang="en-US" dirty="0" smtClean="0"/>
              <a:t>	</a:t>
            </a:r>
            <a:r>
              <a:rPr lang="ru-RU" dirty="0" smtClean="0"/>
              <a:t>указывает регистр </a:t>
            </a:r>
            <a:r>
              <a:rPr lang="en-US" dirty="0" smtClean="0"/>
              <a:t>SI.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ru-RU" dirty="0" smtClean="0"/>
              <a:t>Если содержимое регистра </a:t>
            </a:r>
            <a:r>
              <a:rPr lang="en-US" dirty="0" smtClean="0"/>
              <a:t>CX </a:t>
            </a:r>
            <a:r>
              <a:rPr lang="ru-RU" dirty="0" smtClean="0"/>
              <a:t>больше </a:t>
            </a:r>
            <a:r>
              <a:rPr lang="en-US" dirty="0" smtClean="0"/>
              <a:t>		</a:t>
            </a:r>
            <a:r>
              <a:rPr lang="ru-RU" dirty="0" smtClean="0"/>
              <a:t>содержимого регистра </a:t>
            </a:r>
            <a:r>
              <a:rPr lang="en-US" dirty="0" smtClean="0"/>
              <a:t>BX</a:t>
            </a:r>
            <a:r>
              <a:rPr lang="ru-RU" dirty="0" smtClean="0"/>
              <a:t>, то </a:t>
            </a:r>
            <a:r>
              <a:rPr lang="en-US" dirty="0" smtClean="0"/>
              <a:t>		</a:t>
            </a:r>
            <a:r>
              <a:rPr lang="ru-RU" dirty="0" smtClean="0"/>
              <a:t>эти регистры обнулить. </a:t>
            </a:r>
            <a:endParaRPr lang="ru-RU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Решение задачи №11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23728" y="1556792"/>
            <a:ext cx="5791200" cy="4525963"/>
          </a:xfrm>
        </p:spPr>
        <p:txBody>
          <a:bodyPr numCol="2"/>
          <a:lstStyle/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CMP CX, BX</a:t>
            </a: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JB M1</a:t>
            </a: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JA M2</a:t>
            </a: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MOV [SI], CX</a:t>
            </a: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JMP END</a:t>
            </a:r>
          </a:p>
          <a:p>
            <a:pPr>
              <a:buNone/>
            </a:pPr>
            <a:endParaRPr lang="en-US" b="1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M1:</a:t>
            </a: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ADD BX, BX</a:t>
            </a: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MOV [SI], BX</a:t>
            </a: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JMP END</a:t>
            </a: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M2:</a:t>
            </a: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XOR CX, CX</a:t>
            </a: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XOR BX, BX</a:t>
            </a:r>
          </a:p>
          <a:p>
            <a:pPr>
              <a:buNone/>
            </a:pPr>
            <a:endParaRPr lang="en-US" b="1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END:</a:t>
            </a:r>
          </a:p>
          <a:p>
            <a:pPr>
              <a:buNone/>
            </a:pPr>
            <a:endParaRPr lang="ru-RU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LOOP </a:t>
            </a:r>
            <a:r>
              <a:rPr lang="ru-RU" dirty="0" smtClean="0"/>
              <a:t>операнд1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52600" y="1600201"/>
            <a:ext cx="5791200" cy="2332856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@cikl</a:t>
            </a:r>
          </a:p>
          <a:p>
            <a:pPr>
              <a:buNone/>
            </a:pPr>
            <a:r>
              <a:rPr lang="en-US" dirty="0" smtClean="0"/>
              <a:t>    …</a:t>
            </a:r>
          </a:p>
          <a:p>
            <a:pPr>
              <a:buNone/>
            </a:pPr>
            <a:r>
              <a:rPr lang="en-US" dirty="0" smtClean="0"/>
              <a:t>    …</a:t>
            </a:r>
          </a:p>
          <a:p>
            <a:pPr>
              <a:buNone/>
            </a:pPr>
            <a:r>
              <a:rPr lang="en-US" dirty="0" smtClean="0"/>
              <a:t>    …</a:t>
            </a:r>
          </a:p>
          <a:p>
            <a:pPr>
              <a:buNone/>
            </a:pPr>
            <a:r>
              <a:rPr lang="en-US" dirty="0" smtClean="0"/>
              <a:t>LOOP @cikl</a:t>
            </a:r>
            <a:endParaRPr lang="ru-RU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908720"/>
            <a:ext cx="6248400" cy="579438"/>
          </a:xfrm>
        </p:spPr>
        <p:txBody>
          <a:bodyPr/>
          <a:lstStyle/>
          <a:p>
            <a:pPr algn="ctr"/>
            <a:r>
              <a:rPr lang="ru-RU" dirty="0" smtClean="0"/>
              <a:t>Задача №</a:t>
            </a:r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47664" y="1628800"/>
            <a:ext cx="6264696" cy="1800200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Дан массив из 10 двухбайтных чисел.</a:t>
            </a:r>
          </a:p>
          <a:p>
            <a:pPr>
              <a:buNone/>
            </a:pPr>
            <a:r>
              <a:rPr lang="ru-RU" dirty="0" smtClean="0"/>
              <a:t>Разместить его в памяти и найти сумму его элементов, сохранив её в регистре </a:t>
            </a:r>
            <a:r>
              <a:rPr lang="en-US" dirty="0" smtClean="0"/>
              <a:t>BX.</a:t>
            </a:r>
          </a:p>
          <a:p>
            <a:pPr>
              <a:buNone/>
            </a:pPr>
            <a:r>
              <a:rPr lang="ru-RU" dirty="0" smtClean="0"/>
              <a:t>Написать функцию</a:t>
            </a:r>
            <a:r>
              <a:rPr lang="en-US" dirty="0" smtClean="0"/>
              <a:t> </a:t>
            </a:r>
            <a:r>
              <a:rPr lang="ru-RU" dirty="0" smtClean="0"/>
              <a:t>на языке </a:t>
            </a:r>
            <a:r>
              <a:rPr lang="en-US" dirty="0" smtClean="0"/>
              <a:t>Pascal</a:t>
            </a:r>
            <a:r>
              <a:rPr lang="ru-RU" dirty="0" smtClean="0"/>
              <a:t>.</a:t>
            </a:r>
          </a:p>
        </p:txBody>
      </p:sp>
      <p:pic>
        <p:nvPicPr>
          <p:cNvPr id="1026" name="Picture 2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0152" y="3933056"/>
            <a:ext cx="1939898" cy="1980394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Решение задачи №2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95736" y="1412776"/>
            <a:ext cx="5791200" cy="4824536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rgbClr val="00B050"/>
                </a:solidFill>
              </a:rPr>
              <a:t>Function summa (var a:mas):integer;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rgbClr val="00B050"/>
                </a:solidFill>
              </a:rPr>
              <a:t>Begin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asm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accent4"/>
                </a:solidFill>
              </a:rPr>
              <a:t>		LDS SI, a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accent4"/>
                </a:solidFill>
              </a:rPr>
              <a:t>		XOR BX, BX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accent4"/>
                </a:solidFill>
              </a:rPr>
              <a:t>		MOV CX, 10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accent4"/>
                </a:solidFill>
              </a:rPr>
              <a:t>		XOR AX, AX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rgbClr val="C00000"/>
                </a:solidFill>
              </a:rPr>
              <a:t>		@p: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accent4"/>
                </a:solidFill>
              </a:rPr>
              <a:t>			ADD BX, [SI+AX]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accent4"/>
                </a:solidFill>
              </a:rPr>
              <a:t>			ADD AX, 2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rgbClr val="C00000"/>
                </a:solidFill>
              </a:rPr>
              <a:t>		LOOP @p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end;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rgbClr val="00B050"/>
                </a:solidFill>
              </a:rPr>
              <a:t>End; </a:t>
            </a:r>
            <a:endParaRPr lang="ru-RU" b="1" dirty="0" smtClean="0">
              <a:solidFill>
                <a:srgbClr val="00B050"/>
              </a:solidFill>
            </a:endParaRP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908720"/>
            <a:ext cx="6248400" cy="579438"/>
          </a:xfrm>
        </p:spPr>
        <p:txBody>
          <a:bodyPr/>
          <a:lstStyle/>
          <a:p>
            <a:pPr algn="ctr"/>
            <a:r>
              <a:rPr lang="ru-RU" dirty="0" smtClean="0"/>
              <a:t>Задача №3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691680" y="1628800"/>
            <a:ext cx="6264696" cy="2592288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Дан массив из 15 однобайтных чисел.</a:t>
            </a:r>
          </a:p>
          <a:p>
            <a:pPr>
              <a:buNone/>
            </a:pPr>
            <a:r>
              <a:rPr lang="ru-RU" dirty="0" smtClean="0"/>
              <a:t>Разместить его в памяти и найти сумму его элементов, значения которых больше трех.</a:t>
            </a:r>
          </a:p>
          <a:p>
            <a:pPr>
              <a:buNone/>
            </a:pPr>
            <a:r>
              <a:rPr lang="ru-RU" dirty="0" smtClean="0"/>
              <a:t>Результат разместить в регистре </a:t>
            </a:r>
            <a:r>
              <a:rPr lang="en-US" dirty="0" smtClean="0"/>
              <a:t>BL.</a:t>
            </a:r>
          </a:p>
          <a:p>
            <a:pPr>
              <a:buNone/>
            </a:pPr>
            <a:r>
              <a:rPr lang="ru-RU" dirty="0" smtClean="0"/>
              <a:t>Написать функцию</a:t>
            </a:r>
            <a:r>
              <a:rPr lang="en-US" dirty="0" smtClean="0"/>
              <a:t> </a:t>
            </a:r>
            <a:r>
              <a:rPr lang="ru-RU" dirty="0" smtClean="0"/>
              <a:t>на языке </a:t>
            </a:r>
            <a:r>
              <a:rPr lang="en-US" dirty="0" smtClean="0"/>
              <a:t>Pascal</a:t>
            </a:r>
            <a:r>
              <a:rPr lang="ru-RU" dirty="0" smtClean="0"/>
              <a:t>.</a:t>
            </a:r>
          </a:p>
        </p:txBody>
      </p:sp>
      <p:pic>
        <p:nvPicPr>
          <p:cNvPr id="2050" name="Picture 2" descr="C:\Program Files\Microsoft Office\MEDIA\CAGCAT10\j0234131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8184" y="4005064"/>
            <a:ext cx="1952531" cy="2076261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Решение задачи №</a:t>
            </a:r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95736" y="1412776"/>
            <a:ext cx="4608512" cy="4608512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rgbClr val="00B050"/>
                </a:solidFill>
              </a:rPr>
              <a:t>Function summa (var a:mas):byte;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rgbClr val="00B050"/>
                </a:solidFill>
              </a:rPr>
              <a:t>Begin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asm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accent4"/>
                </a:solidFill>
              </a:rPr>
              <a:t>LDS SI, a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accent4"/>
                </a:solidFill>
              </a:rPr>
              <a:t>XOR BL, BL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accent4"/>
                </a:solidFill>
              </a:rPr>
              <a:t>MOV CX, 15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accent4"/>
                </a:solidFill>
              </a:rPr>
              <a:t>XOR AL, AL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rgbClr val="C00000"/>
                </a:solidFill>
              </a:rPr>
              <a:t>@p: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tx2"/>
                </a:solidFill>
              </a:rPr>
              <a:t>MOV DL, [SI+AL]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tx2"/>
                </a:solidFill>
              </a:rPr>
              <a:t>CMP DL, 3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tx2"/>
                </a:solidFill>
              </a:rPr>
              <a:t>JBE @1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tx2"/>
                </a:solidFill>
              </a:rPr>
              <a:t>ADD BL, [SI+AL]</a:t>
            </a:r>
            <a:endParaRPr lang="ru-RU" b="1" dirty="0" smtClean="0">
              <a:solidFill>
                <a:srgbClr val="00B050"/>
              </a:solidFill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724128" y="4005064"/>
            <a:ext cx="223224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i="1" dirty="0" smtClean="0">
                <a:solidFill>
                  <a:schemeClr val="tx2"/>
                </a:solidFill>
              </a:rPr>
              <a:t>@1: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i="1" dirty="0" smtClean="0">
                <a:solidFill>
                  <a:schemeClr val="tx2"/>
                </a:solidFill>
              </a:rPr>
              <a:t>INC AL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i="1" dirty="0" smtClean="0">
                <a:solidFill>
                  <a:srgbClr val="C00000"/>
                </a:solidFill>
              </a:rPr>
              <a:t>LOOP @p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i="1" dirty="0" smtClean="0">
                <a:solidFill>
                  <a:srgbClr val="0070C0"/>
                </a:solidFill>
              </a:rPr>
              <a:t>end;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i="1" dirty="0" smtClean="0">
                <a:solidFill>
                  <a:srgbClr val="00B050"/>
                </a:solidFill>
              </a:rPr>
              <a:t>End; </a:t>
            </a:r>
            <a:endParaRPr lang="ru-RU" sz="2400" i="1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7624" y="836712"/>
            <a:ext cx="6248400" cy="579438"/>
          </a:xfrm>
        </p:spPr>
        <p:txBody>
          <a:bodyPr/>
          <a:lstStyle/>
          <a:p>
            <a:pPr algn="ctr"/>
            <a:r>
              <a:rPr lang="ru-RU" dirty="0" smtClean="0"/>
              <a:t>Задача №</a:t>
            </a:r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051720" y="1484784"/>
            <a:ext cx="6264696" cy="4680520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В регистрах </a:t>
            </a:r>
            <a:r>
              <a:rPr lang="en-US" dirty="0" smtClean="0"/>
              <a:t>BX </a:t>
            </a:r>
            <a:r>
              <a:rPr lang="ru-RU" dirty="0" smtClean="0"/>
              <a:t>и </a:t>
            </a:r>
            <a:r>
              <a:rPr lang="en-US" dirty="0" smtClean="0"/>
              <a:t>CX</a:t>
            </a:r>
            <a:r>
              <a:rPr lang="ru-RU" dirty="0" smtClean="0"/>
              <a:t> находятся числа.</a:t>
            </a:r>
          </a:p>
          <a:p>
            <a:pPr>
              <a:buNone/>
            </a:pPr>
            <a:r>
              <a:rPr lang="ru-RU" dirty="0" smtClean="0"/>
              <a:t>Если их разность является нечетной и неотрицательной, то необходимо сдвинуть значения обоих регистров на 4 разряда влево.</a:t>
            </a:r>
          </a:p>
          <a:p>
            <a:pPr>
              <a:buNone/>
            </a:pPr>
            <a:r>
              <a:rPr lang="ru-RU" dirty="0" smtClean="0"/>
              <a:t>Иначе значения обоих регистров переписать в последовательные ячейки памяти текущего сегмента данных, на начало которого указывает содержимое регистра </a:t>
            </a:r>
            <a:r>
              <a:rPr lang="en-US" dirty="0" smtClean="0"/>
              <a:t>SI.</a:t>
            </a:r>
            <a:r>
              <a:rPr lang="ru-RU" dirty="0" smtClean="0"/>
              <a:t> </a:t>
            </a:r>
            <a:endParaRPr lang="en-US" dirty="0" smtClean="0"/>
          </a:p>
          <a:p>
            <a:pPr>
              <a:buNone/>
            </a:pPr>
            <a:r>
              <a:rPr lang="ru-RU" dirty="0" smtClean="0"/>
              <a:t>Написать последовательность команд на ассемблере.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Решение задачи №</a:t>
            </a:r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67744" y="1484784"/>
            <a:ext cx="4608512" cy="4824536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tx2"/>
                </a:solidFill>
              </a:rPr>
              <a:t>SUB BX, CX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tx2"/>
                </a:solidFill>
              </a:rPr>
              <a:t>JNP @1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tx2"/>
                </a:solidFill>
              </a:rPr>
              <a:t>MOV [SI], BX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tx2"/>
                </a:solidFill>
              </a:rPr>
              <a:t>JNP @END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rgbClr val="C00000"/>
                </a:solidFill>
              </a:rPr>
              <a:t>@1: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tx2"/>
                </a:solidFill>
              </a:rPr>
              <a:t>JNS @2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tx2"/>
                </a:solidFill>
              </a:rPr>
              <a:t>MOV [SI], BX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tx2"/>
                </a:solidFill>
              </a:rPr>
              <a:t>JNP @END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rgbClr val="C00000"/>
                </a:solidFill>
              </a:rPr>
              <a:t>@2: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tx2"/>
                </a:solidFill>
              </a:rPr>
              <a:t>MOV CL, 4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tx2"/>
                </a:solidFill>
              </a:rPr>
              <a:t>RCL BX, CL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chemeClr val="tx2"/>
                </a:solidFill>
              </a:rPr>
              <a:t>RCL CX, CL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solidFill>
                  <a:srgbClr val="C00000"/>
                </a:solidFill>
              </a:rPr>
              <a:t>@END:</a:t>
            </a:r>
            <a:endParaRPr lang="ru-RU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b="1" dirty="0" smtClean="0">
              <a:solidFill>
                <a:schemeClr val="tx2"/>
              </a:solidFill>
            </a:endParaRPr>
          </a:p>
          <a:p>
            <a:pPr>
              <a:buNone/>
            </a:pPr>
            <a:endParaRPr lang="en-US" b="1" dirty="0" smtClean="0">
              <a:solidFill>
                <a:schemeClr val="tx2"/>
              </a:solidFill>
            </a:endParaRPr>
          </a:p>
        </p:txBody>
      </p:sp>
      <p:pic>
        <p:nvPicPr>
          <p:cNvPr id="3074" name="Picture 2" descr="C:\Documents and Settings\Татьяна\Local Settings\Temporary Internet Files\Content.IE5\7JSANJ48\MC900240699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58598" y="4149080"/>
            <a:ext cx="2323635" cy="1681348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scribble_pad">
  <a:themeElements>
    <a:clrScheme name="scribble_pa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cribble_pad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cribble_pa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ribble_pad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ribble_pad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ribble_pad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ribble_pad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ribble_pad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ribble_pad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ribble_pad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ribble_pad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ribble_pad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ribble_pad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ribble_pad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scribble_pad</Template>
  <TotalTime>1048</TotalTime>
  <Words>1752</Words>
  <Application>Microsoft Office PowerPoint</Application>
  <PresentationFormat>Экран (4:3)</PresentationFormat>
  <Paragraphs>485</Paragraphs>
  <Slides>52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52</vt:i4>
      </vt:variant>
    </vt:vector>
  </HeadingPairs>
  <TitlesOfParts>
    <vt:vector size="53" baseType="lpstr">
      <vt:lpstr>scribble_pad</vt:lpstr>
      <vt:lpstr>Команды языка Ассемблер</vt:lpstr>
      <vt:lpstr>MOV операнд-приемник, операнд-источник</vt:lpstr>
      <vt:lpstr>XCHG операнд1, операнд2</vt:lpstr>
      <vt:lpstr>Задача №1</vt:lpstr>
      <vt:lpstr>Задача №2</vt:lpstr>
      <vt:lpstr>IN операнд1, операнд2</vt:lpstr>
      <vt:lpstr>Команды языка Ассемблер</vt:lpstr>
      <vt:lpstr>PUSH операнд1</vt:lpstr>
      <vt:lpstr>Команды языка Ассемблер</vt:lpstr>
      <vt:lpstr>ADD операнд1, операнд2</vt:lpstr>
      <vt:lpstr>INC операнд1</vt:lpstr>
      <vt:lpstr>Задача №3</vt:lpstr>
      <vt:lpstr>SUB операнд1, операнд2</vt:lpstr>
      <vt:lpstr>NEG операнд1</vt:lpstr>
      <vt:lpstr>Задача №4</vt:lpstr>
      <vt:lpstr>CMP операнд1, операнд2</vt:lpstr>
      <vt:lpstr>MUL операнд1 (для беззнаковых чисел) IMUL операнд 1 (для чисел со знаком)</vt:lpstr>
      <vt:lpstr>Задача №5</vt:lpstr>
      <vt:lpstr>DIV операнд1 (для беззнаковых чисел) IDIV операнд 1 (для чисел со знаком)</vt:lpstr>
      <vt:lpstr>Задача №6</vt:lpstr>
      <vt:lpstr>Задача №7</vt:lpstr>
      <vt:lpstr>Команды языка Ассемблер</vt:lpstr>
      <vt:lpstr>NOT операнд1</vt:lpstr>
      <vt:lpstr>Примеры обнуления бит</vt:lpstr>
      <vt:lpstr>OR операнд1, операнд2</vt:lpstr>
      <vt:lpstr>XOR операнд1, операнд2</vt:lpstr>
      <vt:lpstr>TEST операнд1, операнд2</vt:lpstr>
      <vt:lpstr>Задача №8</vt:lpstr>
      <vt:lpstr>Команды языка Ассемблер</vt:lpstr>
      <vt:lpstr>SHL операнд1, 1</vt:lpstr>
      <vt:lpstr>Быстрое умножение и деление беззнаковых чисел на степени 2</vt:lpstr>
      <vt:lpstr>SAL операнд1, операнд2</vt:lpstr>
      <vt:lpstr>ROL операнд1, операнд2</vt:lpstr>
      <vt:lpstr>RCL операнд1, операнд2</vt:lpstr>
      <vt:lpstr>ROR операнд1, операнд2</vt:lpstr>
      <vt:lpstr>RCR операнд1, операнд2</vt:lpstr>
      <vt:lpstr>Задача №9</vt:lpstr>
      <vt:lpstr>Задача №10</vt:lpstr>
      <vt:lpstr>Команды языка Ассемблер</vt:lpstr>
      <vt:lpstr>Безусловный переход JMP метка</vt:lpstr>
      <vt:lpstr>Условный переход Jxx метка</vt:lpstr>
      <vt:lpstr>Продолжение таблицы</vt:lpstr>
      <vt:lpstr>Продолжение таблицы</vt:lpstr>
      <vt:lpstr>Задача №11</vt:lpstr>
      <vt:lpstr>Решение задачи №11</vt:lpstr>
      <vt:lpstr>LOOP операнд1</vt:lpstr>
      <vt:lpstr>Задача №2</vt:lpstr>
      <vt:lpstr>Решение задачи №2</vt:lpstr>
      <vt:lpstr>Задача №3</vt:lpstr>
      <vt:lpstr>Решение задачи №3</vt:lpstr>
      <vt:lpstr>Задача №4</vt:lpstr>
      <vt:lpstr>Решение задачи №4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Команды языка Ассемблер</dc:title>
  <dc:creator>Elena</dc:creator>
  <cp:lastModifiedBy>Elena</cp:lastModifiedBy>
  <cp:revision>303</cp:revision>
  <dcterms:modified xsi:type="dcterms:W3CDTF">2016-02-17T05:39:58Z</dcterms:modified>
</cp:coreProperties>
</file>