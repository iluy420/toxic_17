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59" r:id="rId4"/>
    <p:sldId id="257" r:id="rId5"/>
    <p:sldId id="262" r:id="rId6"/>
    <p:sldId id="263" r:id="rId7"/>
    <p:sldId id="260" r:id="rId8"/>
    <p:sldId id="261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бро пожаловать!" id="{E75E278A-FF0E-49A4-B170-79828D63BBAD}">
          <p14:sldIdLst>
            <p14:sldId id="256"/>
            <p14:sldId id="258"/>
            <p14:sldId id="259"/>
            <p14:sldId id="257"/>
            <p14:sldId id="262"/>
            <p14:sldId id="263"/>
            <p14:sldId id="260"/>
            <p14:sldId id="261"/>
            <p14:sldId id="264"/>
            <p14:sldId id="265"/>
            <p14:sldId id="269"/>
            <p14:sldId id="266"/>
            <p14:sldId id="267"/>
            <p14:sldId id="268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87671" autoAdjust="0"/>
  </p:normalViewPr>
  <p:slideViewPr>
    <p:cSldViewPr snapToGrid="0">
      <p:cViewPr varScale="1">
        <p:scale>
          <a:sx n="73" d="100"/>
          <a:sy n="73" d="100"/>
        </p:scale>
        <p:origin x="60" y="2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02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EB71F8A-5B58-4C79-A6CD-C4710F7FF4A7}" type="datetime1">
              <a:rPr lang="ru-RU" smtClean="0"/>
              <a:t>14.02.2020</a:t>
            </a:fld>
            <a:endParaRPr lang="ru-RU" dirty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F3995-0B17-4F15-B968-D687711C3F9A}" type="datetime1">
              <a:rPr lang="ru-RU" noProof="0" smtClean="0"/>
              <a:pPr/>
              <a:t>14.02.2020</a:t>
            </a:fld>
            <a:endParaRPr lang="ru-RU" noProof="0" dirty="0"/>
          </a:p>
        </p:txBody>
      </p:sp>
      <p:sp>
        <p:nvSpPr>
          <p:cNvPr id="4" name="Образ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v-assembler.ru/asm/afd/asm-hex-system.htm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 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это типовой узел ЭВМ, предназначенный для временного хранения данных или выполнения над ними некоторых действий. Регистр состоит из разрядов, в которые можно быстро записывать, запоминать и считывать слово, команду, двоичное число. Обычно регистр имеет ту же разрядность, что и машинное слово.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noProof="0" smtClean="0"/>
              <a:t>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976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Любая команда ЭВМ обычно состоит из двух частей –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Операционная часть (её называют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кодом операции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КОП) указывает, какое действие необходимо выполнить с информацией. Адресная часть (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адреса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указывает, где хранится используемая в операции информация и куда поместить результат. У некоторых команд управления работой машины адресная часть может отсутствовать, например, в команде останова, операционная часть имеется всегда.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количеству адресов, записываемых в команде, команды делятся на безадресные, одно-, двух- и трехадресные.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noProof="0" smtClean="0"/>
              <a:t>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25872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noProof="0" smtClean="0"/>
              <a:t>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31466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noProof="0" smtClean="0"/>
              <a:t>10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45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попробуем умножить 10000 на 5000.</a:t>
            </a:r>
          </a:p>
          <a:p>
            <a:r>
              <a:rPr lang="ru-RU" dirty="0" smtClean="0"/>
              <a:t>MOV AX, 10000 ; Первый множитель в регистр AX MOV BX, 5000 ; Второй множитель в регистр BX </a:t>
            </a:r>
            <a:r>
              <a:rPr lang="ru-RU" b="1" dirty="0" smtClean="0"/>
              <a:t>MUL</a:t>
            </a:r>
            <a:r>
              <a:rPr lang="ru-RU" dirty="0" smtClean="0"/>
              <a:t> BX ; Теперь (DX АХ) = 10000 * 5000 = 50000000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результате мы получили довольно большое число, которое, конечно, не поместится в слово. Поэтому для результата используются два регистра - DX и AX. В нашем примере в регистре DX, будет число 762 (02FA - в шестнадцатеричной системе), а в регистре АХ - число 61568 (F080 - в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шестнадцатеричной системе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А если рассматривать их как одно число (двойное слово), где в старшем слове 762, а в младшем - 61568, то это и будет 50000000 (2FAF080 - в шестнадцатеричной системе).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noProof="0" smtClean="0"/>
              <a:t>11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712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 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 dirty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11066400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Образец текста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6" name="Дата 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2446B24-E791-4D5E-A8C7-9C2BEF28EC24}" type="datetime1">
              <a:rPr lang="ru-RU" smtClean="0"/>
              <a:pPr/>
              <a:t>14.02.2020</a:t>
            </a:fld>
            <a:endParaRPr lang="ru-RU" dirty="0"/>
          </a:p>
        </p:txBody>
      </p:sp>
      <p:sp>
        <p:nvSpPr>
          <p:cNvPr id="7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 dirty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11066400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Образец текста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6635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ru-RU" noProof="0" dirty="0"/>
              <a:t>Второй уровень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ru-RU" noProof="0" dirty="0"/>
              <a:t>Третий уровень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ru-RU" noProof="0" dirty="0"/>
              <a:t>Четвертый уровень</a:t>
            </a:r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ru-RU" noProof="0" dirty="0"/>
              <a:t>Пятый уровень</a:t>
            </a:r>
          </a:p>
        </p:txBody>
      </p:sp>
      <p:sp>
        <p:nvSpPr>
          <p:cNvPr id="4" name="Дата 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B7C3FF7-3DC1-4209-8476-953DFCB5CA6B}" type="datetime1">
              <a:rPr lang="ru-RU" smtClean="0"/>
              <a:pPr/>
              <a:t>14.02.2020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8" name="Прямая соединительная линия 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ru-RU" sz="4800" dirty="0">
                <a:solidFill>
                  <a:schemeClr val="bg1"/>
                </a:solidFill>
              </a:rPr>
              <a:t>Добро пожаловать в </a:t>
            </a:r>
            <a:r>
              <a:rPr lang="en-US" sz="4800" dirty="0" smtClean="0">
                <a:solidFill>
                  <a:schemeClr val="bg1"/>
                </a:solidFill>
              </a:rPr>
              <a:t>Assembler</a:t>
            </a:r>
            <a:r>
              <a:rPr lang="ru-RU" sz="4800" dirty="0" smtClean="0">
                <a:solidFill>
                  <a:schemeClr val="bg1"/>
                </a:solidFill>
              </a:rPr>
              <a:t>!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ru-RU" sz="2400" dirty="0">
                <a:solidFill>
                  <a:schemeClr val="bg1"/>
                </a:solidFill>
                <a:latin typeface="+mj-lt"/>
              </a:rPr>
              <a:t>5 советов, которые помогут вам упростить работу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789E6E4-03ED-4E78-A732-347030D7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Принципы фон Неймана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3313794-A159-484E-9719-11B440F201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385804" cy="5066792"/>
          </a:xfrm>
        </p:spPr>
        <p:txBody>
          <a:bodyPr>
            <a:noAutofit/>
          </a:bodyPr>
          <a:lstStyle/>
          <a:p>
            <a:pPr lvl="0"/>
            <a:r>
              <a:rPr lang="ru-RU" sz="1800" b="1" dirty="0"/>
              <a:t>Использование двоичной системы счисления в вычислительных машинах</a:t>
            </a:r>
            <a:r>
              <a:rPr lang="ru-RU" sz="1800" dirty="0"/>
              <a:t>. Преимущество перед десятичной системой счисления заключается в том, что устройства можно делать достаточно простыми, арифметические и логические операции в двоичной системе счисления также выполняются достаточно просто.</a:t>
            </a:r>
          </a:p>
          <a:p>
            <a:pPr lvl="0"/>
            <a:r>
              <a:rPr lang="ru-RU" sz="1800" dirty="0"/>
              <a:t>Программное управление ЭВМ. Работа ЭВМ контролируется программой, состоящей из набора команд. Команды выполняются последовательно друг за другом. Созданием машины с хранимой в памяти программой было положено начало тому, что мы сегодня называем программированием.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298708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789E6E4-03ED-4E78-A732-347030D7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Принципы фон Неймана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3313794-A159-484E-9719-11B440F201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385804" cy="5066792"/>
          </a:xfrm>
        </p:spPr>
        <p:txBody>
          <a:bodyPr>
            <a:noAutofit/>
          </a:bodyPr>
          <a:lstStyle/>
          <a:p>
            <a:pPr lvl="0"/>
            <a:r>
              <a:rPr lang="ru-RU" sz="1800" dirty="0"/>
              <a:t>Память компьютера используется не только для хранения данных, но и программ. При этом и команды программы и данные кодируются в двоичной системе счисления, т.е. их способ записи одинаков. Поэтому в определенных ситуациях над командами можно выполнять те же действия, что и над данными.</a:t>
            </a:r>
          </a:p>
          <a:p>
            <a:pPr lvl="0"/>
            <a:r>
              <a:rPr lang="ru-RU" sz="1800" dirty="0"/>
              <a:t>Ячейки памяти ЭВМ имеют адреса, которые последовательно пронумерованы. В любой момент можно обратиться к любой ячейке памяти по ее адресу. Этот принцип открыл возможность использовать переменные в программировании.</a:t>
            </a:r>
          </a:p>
          <a:p>
            <a:pPr lvl="0"/>
            <a:r>
              <a:rPr lang="ru-RU" sz="1800" dirty="0"/>
              <a:t>Возможность условного перехода в процессе выполнения программы. Не смотря на то, что команды выполняются последовательно, в программах можно реализовать возможность перехода к любому участку кода.</a:t>
            </a:r>
          </a:p>
        </p:txBody>
      </p:sp>
    </p:spTree>
    <p:extLst>
      <p:ext uri="{BB962C8B-B14F-4D97-AF65-F5344CB8AC3E}">
        <p14:creationId xmlns:p14="http://schemas.microsoft.com/office/powerpoint/2010/main" val="389028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7E216E-B392-4BEB-814C-D11636F1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регистров процессора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xmlns="" id="{695AB649-5737-490A-A786-FFF89926576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808120194"/>
              </p:ext>
            </p:extLst>
          </p:nvPr>
        </p:nvGraphicFramePr>
        <p:xfrm>
          <a:off x="1491547" y="4313788"/>
          <a:ext cx="7601654" cy="371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7720">
                  <a:extLst>
                    <a:ext uri="{9D8B030D-6E8A-4147-A177-3AD203B41FA5}">
                      <a16:colId xmlns:a16="http://schemas.microsoft.com/office/drawing/2014/main" xmlns="" val="969266123"/>
                    </a:ext>
                  </a:extLst>
                </a:gridCol>
                <a:gridCol w="350258">
                  <a:extLst>
                    <a:ext uri="{9D8B030D-6E8A-4147-A177-3AD203B41FA5}">
                      <a16:colId xmlns:a16="http://schemas.microsoft.com/office/drawing/2014/main" xmlns="" val="4256173888"/>
                    </a:ext>
                  </a:extLst>
                </a:gridCol>
                <a:gridCol w="1637720">
                  <a:extLst>
                    <a:ext uri="{9D8B030D-6E8A-4147-A177-3AD203B41FA5}">
                      <a16:colId xmlns:a16="http://schemas.microsoft.com/office/drawing/2014/main" xmlns="" val="3864322092"/>
                    </a:ext>
                  </a:extLst>
                </a:gridCol>
                <a:gridCol w="350258">
                  <a:extLst>
                    <a:ext uri="{9D8B030D-6E8A-4147-A177-3AD203B41FA5}">
                      <a16:colId xmlns:a16="http://schemas.microsoft.com/office/drawing/2014/main" xmlns="" val="3366889671"/>
                    </a:ext>
                  </a:extLst>
                </a:gridCol>
                <a:gridCol w="1637720">
                  <a:extLst>
                    <a:ext uri="{9D8B030D-6E8A-4147-A177-3AD203B41FA5}">
                      <a16:colId xmlns:a16="http://schemas.microsoft.com/office/drawing/2014/main" xmlns="" val="3126475119"/>
                    </a:ext>
                  </a:extLst>
                </a:gridCol>
                <a:gridCol w="350258">
                  <a:extLst>
                    <a:ext uri="{9D8B030D-6E8A-4147-A177-3AD203B41FA5}">
                      <a16:colId xmlns:a16="http://schemas.microsoft.com/office/drawing/2014/main" xmlns="" val="871147170"/>
                    </a:ext>
                  </a:extLst>
                </a:gridCol>
                <a:gridCol w="1637720">
                  <a:extLst>
                    <a:ext uri="{9D8B030D-6E8A-4147-A177-3AD203B41FA5}">
                      <a16:colId xmlns:a16="http://schemas.microsoft.com/office/drawing/2014/main" xmlns="" val="503243821"/>
                    </a:ext>
                  </a:extLst>
                </a:gridCol>
              </a:tblGrid>
              <a:tr h="3627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EAX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EBX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ECX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EDX 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159" marR="89159" marT="89159" marB="89159" anchor="ctr"/>
                </a:tc>
                <a:extLst>
                  <a:ext uri="{0D108BD9-81ED-4DB2-BD59-A6C34878D82A}">
                    <a16:rowId xmlns:a16="http://schemas.microsoft.com/office/drawing/2014/main" xmlns="" val="275319136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C7B0E336-67C8-494B-B9B9-2A3400DEA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5197"/>
              </p:ext>
            </p:extLst>
          </p:nvPr>
        </p:nvGraphicFramePr>
        <p:xfrm>
          <a:off x="1491548" y="4870788"/>
          <a:ext cx="7601653" cy="889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9685">
                  <a:extLst>
                    <a:ext uri="{9D8B030D-6E8A-4147-A177-3AD203B41FA5}">
                      <a16:colId xmlns:a16="http://schemas.microsoft.com/office/drawing/2014/main" xmlns="" val="3461005275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3706943723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366726872"/>
                    </a:ext>
                  </a:extLst>
                </a:gridCol>
                <a:gridCol w="108059">
                  <a:extLst>
                    <a:ext uri="{9D8B030D-6E8A-4147-A177-3AD203B41FA5}">
                      <a16:colId xmlns:a16="http://schemas.microsoft.com/office/drawing/2014/main" xmlns="" val="2531685784"/>
                    </a:ext>
                  </a:extLst>
                </a:gridCol>
                <a:gridCol w="909685">
                  <a:extLst>
                    <a:ext uri="{9D8B030D-6E8A-4147-A177-3AD203B41FA5}">
                      <a16:colId xmlns:a16="http://schemas.microsoft.com/office/drawing/2014/main" xmlns="" val="2893001160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2079731226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3850740684"/>
                    </a:ext>
                  </a:extLst>
                </a:gridCol>
                <a:gridCol w="108059">
                  <a:extLst>
                    <a:ext uri="{9D8B030D-6E8A-4147-A177-3AD203B41FA5}">
                      <a16:colId xmlns:a16="http://schemas.microsoft.com/office/drawing/2014/main" xmlns="" val="3770424317"/>
                    </a:ext>
                  </a:extLst>
                </a:gridCol>
                <a:gridCol w="909685">
                  <a:extLst>
                    <a:ext uri="{9D8B030D-6E8A-4147-A177-3AD203B41FA5}">
                      <a16:colId xmlns:a16="http://schemas.microsoft.com/office/drawing/2014/main" xmlns="" val="213847488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2106569498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2954725432"/>
                    </a:ext>
                  </a:extLst>
                </a:gridCol>
                <a:gridCol w="108059">
                  <a:extLst>
                    <a:ext uri="{9D8B030D-6E8A-4147-A177-3AD203B41FA5}">
                      <a16:colId xmlns:a16="http://schemas.microsoft.com/office/drawing/2014/main" xmlns="" val="1797683463"/>
                    </a:ext>
                  </a:extLst>
                </a:gridCol>
                <a:gridCol w="909685">
                  <a:extLst>
                    <a:ext uri="{9D8B030D-6E8A-4147-A177-3AD203B41FA5}">
                      <a16:colId xmlns:a16="http://schemas.microsoft.com/office/drawing/2014/main" xmlns="" val="3474571778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2227461751"/>
                    </a:ext>
                  </a:extLst>
                </a:gridCol>
                <a:gridCol w="454842">
                  <a:extLst>
                    <a:ext uri="{9D8B030D-6E8A-4147-A177-3AD203B41FA5}">
                      <a16:colId xmlns:a16="http://schemas.microsoft.com/office/drawing/2014/main" xmlns="" val="135433160"/>
                    </a:ext>
                  </a:extLst>
                </a:gridCol>
              </a:tblGrid>
              <a:tr h="3069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AX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BX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CX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DX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2735724"/>
                  </a:ext>
                </a:extLst>
              </a:tr>
              <a:tr h="5826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E-часть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AL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E-часть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BH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BL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E-часть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CL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E-часть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DH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DL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0" marR="18700" marT="18700" marB="18700" anchor="ctr"/>
                </a:tc>
                <a:extLst>
                  <a:ext uri="{0D108BD9-81ED-4DB2-BD59-A6C34878D82A}">
                    <a16:rowId xmlns:a16="http://schemas.microsoft.com/office/drawing/2014/main" xmlns="" val="1835071413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262FD3C1-7C09-4B52-936F-903AF335D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76" y="1177470"/>
            <a:ext cx="11066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Один 32-разрядный регистр - это всего лишь 4 байта в процессоре.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EAX (сокращение от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Accumulator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EBX (сокращение от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Base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ECX (сокращение от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Counter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EDX (сокращение от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ru-RU" alt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ru-RU" altLang="ru-RU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Схематично их отображают так: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31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8320706E-1FCB-4655-B82C-24130B6397B3}"/>
              </a:ext>
            </a:extLst>
          </p:cNvPr>
          <p:cNvSpPr/>
          <p:nvPr/>
        </p:nvSpPr>
        <p:spPr>
          <a:xfrm>
            <a:off x="431766" y="5191178"/>
            <a:ext cx="11468496" cy="148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Типовая структура одноадресной команды: </a:t>
            </a:r>
            <a:endParaRPr lang="ru-RU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где а1 – в зависимости от модификации команды может обозначать либо адрес ячейки (регистра), где хранится одно из чисел, участвующих в операции, либо адрес ячейки (регистра), куда следует поместить число – результат операции.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31FBE822-119B-4707-953B-E4D4DF98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Ассемблера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539DE04F-1986-4B06-8546-BD1F28074DB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4594650"/>
              </p:ext>
            </p:extLst>
          </p:nvPr>
        </p:nvGraphicFramePr>
        <p:xfrm>
          <a:off x="6641795" y="2379567"/>
          <a:ext cx="2754061" cy="41761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69642">
                  <a:extLst>
                    <a:ext uri="{9D8B030D-6E8A-4147-A177-3AD203B41FA5}">
                      <a16:colId xmlns:a16="http://schemas.microsoft.com/office/drawing/2014/main" xmlns="" val="886225582"/>
                    </a:ext>
                  </a:extLst>
                </a:gridCol>
                <a:gridCol w="769642">
                  <a:extLst>
                    <a:ext uri="{9D8B030D-6E8A-4147-A177-3AD203B41FA5}">
                      <a16:colId xmlns:a16="http://schemas.microsoft.com/office/drawing/2014/main" xmlns="" val="465033497"/>
                    </a:ext>
                  </a:extLst>
                </a:gridCol>
                <a:gridCol w="769642">
                  <a:extLst>
                    <a:ext uri="{9D8B030D-6E8A-4147-A177-3AD203B41FA5}">
                      <a16:colId xmlns:a16="http://schemas.microsoft.com/office/drawing/2014/main" xmlns="" val="88011640"/>
                    </a:ext>
                  </a:extLst>
                </a:gridCol>
                <a:gridCol w="445135">
                  <a:extLst>
                    <a:ext uri="{9D8B030D-6E8A-4147-A177-3AD203B41FA5}">
                      <a16:colId xmlns:a16="http://schemas.microsoft.com/office/drawing/2014/main" xmlns="" val="2755344048"/>
                    </a:ext>
                  </a:extLst>
                </a:gridCol>
              </a:tblGrid>
              <a:tr h="4176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КОП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r>
                        <a:rPr lang="ru-RU" sz="18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r>
                        <a:rPr lang="ru-RU" sz="18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r>
                        <a:rPr lang="ru-RU" sz="1800" dirty="0">
                          <a:effectLst/>
                        </a:rPr>
                        <a:t>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8457180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9343A14E-B3D1-4320-BA5F-63BD56ECB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66" y="2327315"/>
            <a:ext cx="1176023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Типовая структура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трехадресной команды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а1 и а2 – адреса ячеек (регистров), где расположены соответственно первое и второе числа, участвующие в операции;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а3 – адрес ячейки (регистра), куда следует поместить число, полученное в результате выполнения операции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xmlns="" id="{DBF6DC5D-07FE-49D3-B592-5A3EB9642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90328"/>
              </p:ext>
            </p:extLst>
          </p:nvPr>
        </p:nvGraphicFramePr>
        <p:xfrm>
          <a:off x="6697741" y="5222862"/>
          <a:ext cx="2368732" cy="45729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84366">
                  <a:extLst>
                    <a:ext uri="{9D8B030D-6E8A-4147-A177-3AD203B41FA5}">
                      <a16:colId xmlns:a16="http://schemas.microsoft.com/office/drawing/2014/main" xmlns="" val="64633116"/>
                    </a:ext>
                  </a:extLst>
                </a:gridCol>
                <a:gridCol w="1184366">
                  <a:extLst>
                    <a:ext uri="{9D8B030D-6E8A-4147-A177-3AD203B41FA5}">
                      <a16:colId xmlns:a16="http://schemas.microsoft.com/office/drawing/2014/main" xmlns="" val="3572102594"/>
                    </a:ext>
                  </a:extLst>
                </a:gridCol>
              </a:tblGrid>
              <a:tr h="4572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КОП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r>
                        <a:rPr lang="ru-RU" sz="18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12144098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xmlns="" id="{34D386F6-60A3-4CA1-9083-18CCAF648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66" y="3890236"/>
            <a:ext cx="1146849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Типовая структура </a:t>
            </a:r>
            <a:r>
              <a:rPr kumimoji="0" lang="ru-RU" altLang="ru-RU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двухадресной команды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а1 – это обычно адрес ячейки (регистра), где хранится первое из чисел, участвующее в операции, и куда после завершения операции должен быть записан результат;</a:t>
            </a:r>
            <a:endParaRPr kumimoji="0" lang="ru-RU" alt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а2 – обычно адрес ячейки (регистра), где хранится второе участвующее в операции число.</a:t>
            </a:r>
            <a:endParaRPr kumimoji="0" lang="ru-RU" alt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xmlns="" id="{EABFB912-B942-4F08-9B12-B2BB9D81D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20552"/>
              </p:ext>
            </p:extLst>
          </p:nvPr>
        </p:nvGraphicFramePr>
        <p:xfrm>
          <a:off x="6653170" y="3836362"/>
          <a:ext cx="2964756" cy="44825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88252">
                  <a:extLst>
                    <a:ext uri="{9D8B030D-6E8A-4147-A177-3AD203B41FA5}">
                      <a16:colId xmlns:a16="http://schemas.microsoft.com/office/drawing/2014/main" xmlns="" val="3878143296"/>
                    </a:ext>
                  </a:extLst>
                </a:gridCol>
                <a:gridCol w="988252">
                  <a:extLst>
                    <a:ext uri="{9D8B030D-6E8A-4147-A177-3AD203B41FA5}">
                      <a16:colId xmlns:a16="http://schemas.microsoft.com/office/drawing/2014/main" xmlns="" val="2300257633"/>
                    </a:ext>
                  </a:extLst>
                </a:gridCol>
                <a:gridCol w="988252">
                  <a:extLst>
                    <a:ext uri="{9D8B030D-6E8A-4147-A177-3AD203B41FA5}">
                      <a16:colId xmlns:a16="http://schemas.microsoft.com/office/drawing/2014/main" xmlns="" val="1109468035"/>
                    </a:ext>
                  </a:extLst>
                </a:gridCol>
              </a:tblGrid>
              <a:tr h="448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КОП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r>
                        <a:rPr lang="ru-RU" sz="18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r>
                        <a:rPr lang="ru-RU" sz="1800" dirty="0">
                          <a:effectLst/>
                        </a:rPr>
                        <a:t>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807455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57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0DE6D3-70F6-41BE-8D60-D66C4C0F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группы команд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C1D6E7-A0F4-4918-B421-CB4DFCA169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439144" cy="51480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dirty="0"/>
              <a:t>1. Команды передачи данных (перепись), копирующие информацию из одного места в другое.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2.    Арифметические операции, которым обязана своим рождением вычислительная техника.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3.    Логические операции, позволяющие компьютеру производить анализ получаемой информации. Примерами могут служить сравнение, логические операции И, ИЛИ, НЕ, а так же анализ отдельных битов кода, их сброс и установка.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4.    Сдвиги двоичного кода влево и вправо. Операции сдвига используются, например, при выполнении умножения и деления чисел.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5.    Команды ввода и вывода информации для обмена с внешними устройствами.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6.    Команды управления, к которым следует отнести все виды переходов. Сюда же включают операции по управлению процессором.</a:t>
            </a:r>
          </a:p>
          <a:p>
            <a:pPr>
              <a:lnSpc>
                <a:spcPct val="100000"/>
              </a:lnSpc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6230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430E34-59DD-4696-A58B-547032F0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1066400" cy="640080"/>
          </a:xfrm>
        </p:spPr>
        <p:txBody>
          <a:bodyPr/>
          <a:lstStyle/>
          <a:p>
            <a:r>
              <a:rPr lang="ru-RU" dirty="0"/>
              <a:t>Основные команды Ассемблера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xmlns="" id="{5ECC76C1-3C1C-4B4C-B75B-C4310BEA5E8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383167666"/>
              </p:ext>
            </p:extLst>
          </p:nvPr>
        </p:nvGraphicFramePr>
        <p:xfrm>
          <a:off x="449200" y="1612994"/>
          <a:ext cx="11160000" cy="2650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161132716"/>
                    </a:ext>
                  </a:extLst>
                </a:gridCol>
                <a:gridCol w="9000000">
                  <a:extLst>
                    <a:ext uri="{9D8B030D-6E8A-4147-A177-3AD203B41FA5}">
                      <a16:colId xmlns:a16="http://schemas.microsoft.com/office/drawing/2014/main" xmlns="" val="3293640548"/>
                    </a:ext>
                  </a:extLst>
                </a:gridCol>
              </a:tblGrid>
              <a:tr h="30149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Команда MOV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3731549"/>
                  </a:ext>
                </a:extLst>
              </a:tr>
              <a:tr h="4855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Происхождение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от англ. слова </a:t>
                      </a:r>
                      <a:r>
                        <a:rPr lang="ru-RU" sz="2000" dirty="0" err="1">
                          <a:effectLst/>
                        </a:rPr>
                        <a:t>move</a:t>
                      </a:r>
                      <a:r>
                        <a:rPr lang="ru-RU" sz="2000" dirty="0">
                          <a:effectLst/>
                        </a:rPr>
                        <a:t> - движение, перемена места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525896541"/>
                  </a:ext>
                </a:extLst>
              </a:tr>
              <a:tr h="30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Формат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mov</a:t>
                      </a:r>
                      <a:r>
                        <a:rPr lang="ru-RU" sz="2000" dirty="0">
                          <a:effectLst/>
                        </a:rPr>
                        <a:t> приёмник , источник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250064098"/>
                  </a:ext>
                </a:extLst>
              </a:tr>
              <a:tr h="4097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Действие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Копирует содержимое источника в приёмник.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84012852"/>
                  </a:ext>
                </a:extLst>
              </a:tr>
              <a:tr h="10161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Примечание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MOV не может передавать данные между двумя адресами оперативной памяти (для этой цели существуют команды MOVS)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31279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04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38F91D3-C89B-4183-891B-4C1B6E6A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MOV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84AF6C32-A34A-46C2-9BA3-DBE3E72379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5100" y="1435100"/>
            <a:ext cx="12026900" cy="406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EAX, 0FFFFFFFFh  ; Так правильно, и EAX будет равен FFFFFFFF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EAX, 01FFFFFFFFh ; Так </a:t>
            </a: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НЕправильно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Значение больше регистра, данной операции быть не может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EAX, 0           ; Так правильно, и EAX станет равен 00000000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AX,  0FFFFh      ; Так правильно, и EAX будет равен 0000FFFF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AX,  1FFFFh      ; Так </a:t>
            </a: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НЕправильно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Значение больше регистра, данной операции быть не может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AX,  0           ; Так правильно, и AX станет равен 0000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AH,  111h        ; Так </a:t>
            </a: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НЕправильно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Значение больше регистра, данной операции быть не может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AL,  100h        ; Так </a:t>
            </a: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НЕправильно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Значение больше регистра, данной операции быть не может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AL,  0BBh        ; Так правильно, и EAX станет равен 000000BB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AH,  AL          ; так правильно, и EAX станет равен 0000BBBB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24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430E34-59DD-4696-A58B-547032F0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11066400" cy="640080"/>
          </a:xfrm>
        </p:spPr>
        <p:txBody>
          <a:bodyPr/>
          <a:lstStyle/>
          <a:p>
            <a:r>
              <a:rPr lang="ru-RU" dirty="0"/>
              <a:t>Основные команды Ассемблера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xmlns="" id="{5ECC76C1-3C1C-4B4C-B75B-C4310BEA5E8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01490316"/>
              </p:ext>
            </p:extLst>
          </p:nvPr>
        </p:nvGraphicFramePr>
        <p:xfrm>
          <a:off x="449200" y="1612994"/>
          <a:ext cx="11160000" cy="2650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161132716"/>
                    </a:ext>
                  </a:extLst>
                </a:gridCol>
                <a:gridCol w="9000000">
                  <a:extLst>
                    <a:ext uri="{9D8B030D-6E8A-4147-A177-3AD203B41FA5}">
                      <a16:colId xmlns:a16="http://schemas.microsoft.com/office/drawing/2014/main" xmlns="" val="3293640548"/>
                    </a:ext>
                  </a:extLst>
                </a:gridCol>
              </a:tblGrid>
              <a:tr h="30149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Команда </a:t>
                      </a:r>
                      <a:r>
                        <a:rPr lang="en-US" sz="20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XCHG</a:t>
                      </a:r>
                      <a:r>
                        <a:rPr lang="ru-RU" sz="20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2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3731549"/>
                  </a:ext>
                </a:extLst>
              </a:tr>
              <a:tr h="4855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Происхождение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Exchange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или Обмен данными</a:t>
                      </a:r>
                      <a:endParaRPr lang="ru-R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525896541"/>
                  </a:ext>
                </a:extLst>
              </a:tr>
              <a:tr h="30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Формат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XCHG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операнд1</a:t>
                      </a:r>
                      <a:r>
                        <a:rPr lang="ru-RU" sz="2000" dirty="0">
                          <a:effectLst/>
                        </a:rPr>
                        <a:t>, операнд2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250064098"/>
                  </a:ext>
                </a:extLst>
              </a:tr>
              <a:tr h="4097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Действие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позволяет обменять содержимое двух операндов</a:t>
                      </a:r>
                      <a:endParaRPr lang="ru-R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84012852"/>
                  </a:ext>
                </a:extLst>
              </a:tr>
              <a:tr h="10161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Примечание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операнды команды XCHG не могут быть непосредственно заданными значениями</a:t>
                      </a:r>
                      <a:endParaRPr lang="ru-R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31279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06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AA93FD-07A2-43CE-801C-2298194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двоичной арифметики</a:t>
            </a:r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BA85B3F9-F408-4199-86EB-6A111AD785AA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74320" y="1787135"/>
            <a:ext cx="1167819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инкремент/декремент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(увеличение/уменьшение операнда на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INC/DEC регистр/память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сложение/вычитание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ADD/SUB получатель, источник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меняет знак операнда на противоположный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NEG регистр/память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solidFill>
                <a:srgbClr val="000000"/>
              </a:solidFill>
              <a:latin typeface="Arial Unicode MS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преобразование значения, находящегося в регистре </a:t>
            </a:r>
            <a:r>
              <a:rPr lang="ru-RU" altLang="ru-RU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ru-RU" altLang="ru-RU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до размера слова, и помещает его в ах, при этом свободные старшие биты ах заполняются знаковым битом </a:t>
            </a:r>
            <a:r>
              <a:rPr lang="ru-RU" altLang="ru-RU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ru-RU" altLang="ru-RU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altLang="ru-RU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ru-RU" altLang="ru-RU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ru-RU" altLang="ru-RU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lang="ru-RU" altLang="ru-RU" sz="1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ru-RU" sz="1800" b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 err="1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mov</a:t>
            </a:r>
            <a:r>
              <a:rPr lang="en-US" altLang="ru-RU" sz="2000" dirty="0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 </a:t>
            </a:r>
            <a:r>
              <a:rPr lang="en-US" altLang="ru-RU" sz="2000" dirty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al, -1; al =  10000001b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CBW; </a:t>
            </a:r>
            <a:r>
              <a:rPr lang="en-US" altLang="ru-RU" sz="2000" dirty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ax = 11111111 10000001b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ru-RU" sz="2000" dirty="0">
              <a:solidFill>
                <a:srgbClr val="000000"/>
              </a:solidFill>
              <a:latin typeface="Arial Unicode MS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 err="1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mov</a:t>
            </a:r>
            <a:r>
              <a:rPr lang="en-US" altLang="ru-RU" sz="2000" dirty="0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 </a:t>
            </a:r>
            <a:r>
              <a:rPr lang="en-US" altLang="ru-RU" sz="2000" dirty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al, 1; al =  00000001b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 smtClean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CBW; </a:t>
            </a:r>
            <a:r>
              <a:rPr lang="en-US" altLang="ru-RU" sz="2000" dirty="0">
                <a:solidFill>
                  <a:srgbClr val="000000"/>
                </a:solidFill>
                <a:latin typeface="Arial Unicode MS"/>
                <a:cs typeface="Courier New" panose="02070309020205020404" pitchFamily="49" charset="0"/>
              </a:rPr>
              <a:t>ax = 00000000 00000001b</a:t>
            </a:r>
          </a:p>
        </p:txBody>
      </p:sp>
    </p:spTree>
    <p:extLst>
      <p:ext uri="{BB962C8B-B14F-4D97-AF65-F5344CB8AC3E}">
        <p14:creationId xmlns:p14="http://schemas.microsoft.com/office/powerpoint/2010/main" val="49026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AA93FD-07A2-43CE-801C-2298194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Команды двоичной арифметики</a:t>
            </a:r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BA85B3F9-F408-4199-86EB-6A111AD785AA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74320" y="2248798"/>
            <a:ext cx="5422145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умножение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беззнаковое/умножение знаковое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MUL/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IMULрегистр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/память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зависимости от типа операнда (байт/слово/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дв.слово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множитель по умолчанию берется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результат записывается соответственно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dx:ax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edx:eax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деление беззнаковое/деление знаковое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cs typeface="Courier New" panose="02070309020205020404" pitchFamily="49" charset="0"/>
              </a:rPr>
              <a:t>DIV/IDIV регистр/память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зависимости от типа операнда (байт/слово/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дв.слово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делимое по умолчанию берется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dx:ax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edx:eax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результат записывается соответственно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(целая часть)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(остаток),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или 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67168" y="1910244"/>
            <a:ext cx="612483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MOV AL, 150 ; Первый множитель в регистр AL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MOV BL, 250 ; Второй множитель в регистр BL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MUL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BL ; Теперь АХ = 150 * 250 = 37500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844747" y="5574987"/>
            <a:ext cx="60177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MOV AX, 250 ; Делимое в регистр AX </a:t>
            </a:r>
            <a:endParaRPr lang="en-US" sz="2000" dirty="0"/>
          </a:p>
          <a:p>
            <a:r>
              <a:rPr lang="ru-RU" sz="2000" dirty="0"/>
              <a:t>MOV BL, 150 ; Делитель в регистр BL </a:t>
            </a:r>
            <a:endParaRPr lang="en-US" sz="2000" dirty="0"/>
          </a:p>
          <a:p>
            <a:r>
              <a:rPr lang="ru-RU" sz="2000" dirty="0"/>
              <a:t>DIV BL ; Теперь АL = 250 / 150 = 1, AH = 100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044869" y="3342504"/>
            <a:ext cx="59041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MOV AX, 10000 ; Первый множитель в регистр AX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MOV BX, 5000 ; Второй множитель в регистр BX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MUL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BX ; Теперь (DX АХ) = 10000 * 5000 = 50000000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0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59776" y="448056"/>
            <a:ext cx="5827829" cy="640080"/>
          </a:xfrm>
        </p:spPr>
        <p:txBody>
          <a:bodyPr/>
          <a:lstStyle/>
          <a:p>
            <a:r>
              <a:rPr lang="ru-RU" dirty="0" smtClean="0"/>
              <a:t>Примеры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313509"/>
            <a:ext cx="6713920" cy="65444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#include "</a:t>
            </a:r>
            <a:r>
              <a:rPr lang="en-US" sz="2400" dirty="0" err="1" smtClean="0"/>
              <a:t>stdafx.h</a:t>
            </a:r>
            <a:r>
              <a:rPr lang="en-US" sz="2400" dirty="0" smtClean="0"/>
              <a:t>”</a:t>
            </a:r>
            <a:br>
              <a:rPr lang="en-US" sz="2400" dirty="0" smtClean="0"/>
            </a:br>
            <a:r>
              <a:rPr lang="en-US" sz="2400" dirty="0" smtClean="0"/>
              <a:t>#</a:t>
            </a:r>
            <a:r>
              <a:rPr lang="en-US" sz="2400" dirty="0"/>
              <a:t>include "</a:t>
            </a:r>
            <a:r>
              <a:rPr lang="en-US" sz="2400" dirty="0" err="1" smtClean="0"/>
              <a:t>iostream</a:t>
            </a:r>
            <a:r>
              <a:rPr lang="en-US" sz="2400" dirty="0" smtClean="0"/>
              <a:t>“</a:t>
            </a:r>
            <a:br>
              <a:rPr lang="en-US" sz="2400" dirty="0" smtClean="0"/>
            </a:br>
            <a:r>
              <a:rPr lang="en-US" sz="2400" dirty="0" smtClean="0"/>
              <a:t>using </a:t>
            </a:r>
            <a:r>
              <a:rPr lang="en-US" sz="2400" dirty="0"/>
              <a:t>namespace </a:t>
            </a:r>
            <a:r>
              <a:rPr lang="en-US" sz="2400" dirty="0" err="1"/>
              <a:t>std</a:t>
            </a:r>
            <a:r>
              <a:rPr lang="en-US" sz="2400" dirty="0"/>
              <a:t>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a, b, sum;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a ");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&amp;a);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b ");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&amp;b);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_</a:t>
            </a:r>
            <a:r>
              <a:rPr lang="en-US" sz="2400" dirty="0" err="1"/>
              <a:t>asm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{</a:t>
            </a:r>
            <a:r>
              <a:rPr lang="en-US" sz="2400" dirty="0"/>
              <a:t>	</a:t>
            </a:r>
            <a:r>
              <a:rPr lang="en-US" sz="2400" dirty="0" err="1" smtClean="0"/>
              <a:t>xor</a:t>
            </a:r>
            <a:r>
              <a:rPr lang="en-US" sz="2400" dirty="0" smtClean="0"/>
              <a:t> </a:t>
            </a:r>
            <a:r>
              <a:rPr lang="en-US" sz="2400" dirty="0" err="1" smtClean="0"/>
              <a:t>eax</a:t>
            </a:r>
            <a:r>
              <a:rPr lang="en-US" sz="2400" dirty="0" smtClean="0"/>
              <a:t>, </a:t>
            </a:r>
            <a:r>
              <a:rPr lang="en-US" sz="2400" dirty="0" err="1" smtClean="0"/>
              <a:t>eax</a:t>
            </a:r>
            <a:endParaRPr lang="en-US" sz="2400" dirty="0" smtClean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	</a:t>
            </a:r>
            <a:r>
              <a:rPr lang="en-US" sz="2400" dirty="0" err="1" smtClean="0"/>
              <a:t>mov</a:t>
            </a:r>
            <a:r>
              <a:rPr lang="en-US" sz="2400" dirty="0" smtClean="0"/>
              <a:t> </a:t>
            </a:r>
            <a:r>
              <a:rPr lang="en-US" sz="2400" dirty="0" err="1"/>
              <a:t>eax</a:t>
            </a:r>
            <a:r>
              <a:rPr lang="en-US" sz="2400" dirty="0"/>
              <a:t>, a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add </a:t>
            </a:r>
            <a:r>
              <a:rPr lang="en-US" sz="2400" dirty="0" err="1"/>
              <a:t>eax</a:t>
            </a:r>
            <a:r>
              <a:rPr lang="en-US" sz="2400" dirty="0"/>
              <a:t>, b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</a:t>
            </a:r>
            <a:r>
              <a:rPr lang="en-US" sz="2400" dirty="0" err="1"/>
              <a:t>mov</a:t>
            </a:r>
            <a:r>
              <a:rPr lang="en-US" sz="2400" dirty="0"/>
              <a:t> sum</a:t>
            </a:r>
            <a:r>
              <a:rPr lang="en-US" sz="2400" dirty="0" smtClean="0"/>
              <a:t>, </a:t>
            </a:r>
            <a:r>
              <a:rPr lang="en-US" sz="2400" dirty="0" err="1" smtClean="0"/>
              <a:t>eax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}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en-US" sz="2400" dirty="0" smtClean="0"/>
              <a:t> ("\</a:t>
            </a:r>
            <a:r>
              <a:rPr lang="en-US" sz="2400" dirty="0"/>
              <a:t>n %d + %d = %d", a, b, sum</a:t>
            </a:r>
            <a:r>
              <a:rPr lang="en-US" sz="2400" dirty="0" smtClean="0"/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3043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198606"/>
            <a:ext cx="6713920" cy="565939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short a</a:t>
            </a:r>
            <a:r>
              <a:rPr lang="en-US" sz="2400" dirty="0"/>
              <a:t>, b, sum;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a ");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&amp;a);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b ");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&amp;b);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_</a:t>
            </a:r>
            <a:r>
              <a:rPr lang="en-US" sz="2400" dirty="0" err="1"/>
              <a:t>asm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{</a:t>
            </a:r>
            <a:r>
              <a:rPr lang="en-US" sz="2400" dirty="0"/>
              <a:t>	</a:t>
            </a:r>
            <a:r>
              <a:rPr lang="en-US" sz="2400" dirty="0" err="1"/>
              <a:t>mov</a:t>
            </a:r>
            <a:r>
              <a:rPr lang="en-US" sz="2400" dirty="0"/>
              <a:t> </a:t>
            </a:r>
            <a:r>
              <a:rPr lang="en-US" sz="2400" dirty="0" smtClean="0"/>
              <a:t>ax</a:t>
            </a:r>
            <a:r>
              <a:rPr lang="en-US" sz="2400" dirty="0"/>
              <a:t>, a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add </a:t>
            </a:r>
            <a:r>
              <a:rPr lang="en-US" sz="2400" dirty="0" smtClean="0"/>
              <a:t>ax</a:t>
            </a:r>
            <a:r>
              <a:rPr lang="en-US" sz="2400" dirty="0"/>
              <a:t>, b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</a:t>
            </a:r>
            <a:r>
              <a:rPr lang="en-US" sz="2400" dirty="0" err="1"/>
              <a:t>mov</a:t>
            </a:r>
            <a:r>
              <a:rPr lang="en-US" sz="2400" dirty="0"/>
              <a:t> </a:t>
            </a:r>
            <a:r>
              <a:rPr lang="en-US" sz="2400" dirty="0" smtClean="0"/>
              <a:t>sum, ax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}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en-US" sz="2400" dirty="0" smtClean="0"/>
              <a:t> ("\</a:t>
            </a:r>
            <a:r>
              <a:rPr lang="en-US" sz="2400" dirty="0"/>
              <a:t>n %d + %d = %d", a, b, sum</a:t>
            </a:r>
            <a:r>
              <a:rPr lang="en-US" sz="2400" dirty="0" smtClean="0"/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0791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198606"/>
            <a:ext cx="6713920" cy="565939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char a</a:t>
            </a:r>
            <a:r>
              <a:rPr lang="en-US" sz="2400" dirty="0"/>
              <a:t>, b, sum;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a ");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&amp;a);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ru-RU" sz="2400" dirty="0" smtClean="0"/>
              <a:t> </a:t>
            </a:r>
            <a:r>
              <a:rPr lang="en-US" sz="2400" dirty="0" smtClean="0"/>
              <a:t>("\</a:t>
            </a:r>
            <a:r>
              <a:rPr lang="ru-RU" sz="2400" dirty="0"/>
              <a:t>Введите</a:t>
            </a:r>
            <a:r>
              <a:rPr lang="en-US" sz="2400" dirty="0"/>
              <a:t> b ");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scanf_s</a:t>
            </a:r>
            <a:r>
              <a:rPr lang="ru-RU" sz="2400" dirty="0" smtClean="0"/>
              <a:t> </a:t>
            </a:r>
            <a:r>
              <a:rPr lang="en-US" sz="2400" dirty="0" smtClean="0"/>
              <a:t>("%</a:t>
            </a:r>
            <a:r>
              <a:rPr lang="en-US" sz="2400" dirty="0" err="1"/>
              <a:t>i</a:t>
            </a:r>
            <a:r>
              <a:rPr lang="en-US" sz="2400" dirty="0"/>
              <a:t>", &amp;b);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_</a:t>
            </a:r>
            <a:r>
              <a:rPr lang="en-US" sz="2400" dirty="0" err="1"/>
              <a:t>asm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{</a:t>
            </a:r>
            <a:r>
              <a:rPr lang="en-US" sz="2400" dirty="0"/>
              <a:t>	</a:t>
            </a:r>
            <a:r>
              <a:rPr lang="en-US" sz="2400" dirty="0" err="1"/>
              <a:t>mov</a:t>
            </a:r>
            <a:r>
              <a:rPr lang="en-US" sz="2400" dirty="0"/>
              <a:t> </a:t>
            </a:r>
            <a:r>
              <a:rPr lang="en-US" sz="2400" dirty="0" smtClean="0"/>
              <a:t>al, </a:t>
            </a:r>
            <a:r>
              <a:rPr lang="en-US" sz="2400" dirty="0"/>
              <a:t>a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add </a:t>
            </a:r>
            <a:r>
              <a:rPr lang="en-US" sz="2400" dirty="0" smtClean="0"/>
              <a:t>al, </a:t>
            </a:r>
            <a:r>
              <a:rPr lang="en-US" sz="2400" dirty="0"/>
              <a:t>b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	</a:t>
            </a:r>
            <a:r>
              <a:rPr lang="en-US" sz="2400" dirty="0" err="1"/>
              <a:t>mov</a:t>
            </a:r>
            <a:r>
              <a:rPr lang="en-US" sz="2400" dirty="0"/>
              <a:t> </a:t>
            </a:r>
            <a:r>
              <a:rPr lang="en-US" sz="2400" dirty="0" smtClean="0"/>
              <a:t>sum, al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}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 err="1" smtClean="0"/>
              <a:t>printf</a:t>
            </a:r>
            <a:r>
              <a:rPr lang="en-US" sz="2400" dirty="0" smtClean="0"/>
              <a:t> ("\</a:t>
            </a:r>
            <a:r>
              <a:rPr lang="en-US" sz="2400" dirty="0"/>
              <a:t>n %d + %d = %d", a, b, sum</a:t>
            </a:r>
            <a:r>
              <a:rPr lang="en-US" sz="2400" dirty="0" smtClean="0"/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1675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Библиотеки для Ассемблерной вставки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9160558" cy="5101116"/>
          </a:xfrm>
        </p:spPr>
        <p:txBody>
          <a:bodyPr>
            <a:noAutofit/>
          </a:bodyPr>
          <a:lstStyle/>
          <a:p>
            <a:r>
              <a:rPr lang="ru-RU" sz="2000" dirty="0"/>
              <a:t>// </a:t>
            </a:r>
            <a:r>
              <a:rPr lang="ru-RU" sz="2000" dirty="0" err="1"/>
              <a:t>ассем</a:t>
            </a:r>
            <a:r>
              <a:rPr lang="ru-RU" sz="2000" dirty="0"/>
              <a:t> mov.cpp: определяет точку входа для консольного приложения.</a:t>
            </a:r>
          </a:p>
          <a:p>
            <a:r>
              <a:rPr lang="en-US" sz="2000" dirty="0"/>
              <a:t>//</a:t>
            </a:r>
            <a:endParaRPr lang="ru-RU" sz="2000" dirty="0"/>
          </a:p>
          <a:p>
            <a:r>
              <a:rPr lang="en-US" sz="2000" dirty="0"/>
              <a:t>#include "</a:t>
            </a:r>
            <a:r>
              <a:rPr lang="en-US" sz="2000" dirty="0" err="1"/>
              <a:t>stdafx.h</a:t>
            </a:r>
            <a:r>
              <a:rPr lang="en-US" sz="2000" dirty="0"/>
              <a:t>"</a:t>
            </a:r>
            <a:endParaRPr lang="ru-RU" sz="2000" dirty="0"/>
          </a:p>
          <a:p>
            <a:r>
              <a:rPr lang="en-US" sz="2000" dirty="0"/>
              <a:t>#include "</a:t>
            </a:r>
            <a:r>
              <a:rPr lang="en-US" sz="2000" dirty="0" err="1"/>
              <a:t>iostream</a:t>
            </a:r>
            <a:r>
              <a:rPr lang="en-US" sz="2000" dirty="0"/>
              <a:t>"</a:t>
            </a:r>
            <a:endParaRPr lang="ru-RU" sz="2000" dirty="0"/>
          </a:p>
          <a:p>
            <a:r>
              <a:rPr lang="en-US" sz="2000" dirty="0"/>
              <a:t>using namespace </a:t>
            </a:r>
            <a:r>
              <a:rPr lang="en-US" sz="2000" dirty="0" err="1"/>
              <a:t>std</a:t>
            </a:r>
            <a:r>
              <a:rPr lang="en-US" sz="2000" dirty="0" smtClean="0"/>
              <a:t>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25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Логический сдвиг операнда влево/вправо</a:t>
            </a: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sz="quarter" idx="10"/>
          </p:nvPr>
        </p:nvSpPr>
        <p:spPr bwMode="auto">
          <a:xfrm>
            <a:off x="521206" y="1794478"/>
            <a:ext cx="42335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SHL операнд,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количество_сдвигов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SHR операнд,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количество_сдвигов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823322" y="3028053"/>
            <a:ext cx="370104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Пример: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= 01011011 (двоичное)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shr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, 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;</a:t>
            </a:r>
            <a:r>
              <a:rPr kumimoji="0" lang="ru-RU" alt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000" dirty="0"/>
              <a:t>al </a:t>
            </a:r>
            <a:r>
              <a:rPr lang="ru-RU" sz="2000" dirty="0" smtClean="0"/>
              <a:t>=00001011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4778" y="4585128"/>
            <a:ext cx="69692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Команда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shl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такая же, как и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shr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, но сдвигает влево.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bl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= 11100101 (двоичное)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shl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bl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, 2 ;</a:t>
            </a:r>
            <a:r>
              <a:rPr kumimoji="0" lang="ru-RU" alt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lang="ru-RU" sz="2000" dirty="0" err="1"/>
              <a:t>bl</a:t>
            </a:r>
            <a:r>
              <a:rPr lang="ru-RU" sz="2000" dirty="0"/>
              <a:t> будет равен 10010100 (двоичное)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21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1" dirty="0"/>
              <a:t>Задания для самостоятельного выполнения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048110" cy="3977640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2000" i="1" dirty="0"/>
              <a:t>С клавиатуры вводятся два символа. Вывести их в обратном порядке (Например: '1gg1', '</a:t>
            </a:r>
            <a:r>
              <a:rPr lang="ru-RU" sz="2000" i="1" dirty="0" err="1"/>
              <a:t>assa</a:t>
            </a:r>
            <a:r>
              <a:rPr lang="ru-RU" sz="2000" i="1" dirty="0"/>
              <a:t>', '-==-'); </a:t>
            </a:r>
            <a:r>
              <a:rPr lang="ru-RU" sz="2000" b="1" i="1" dirty="0"/>
              <a:t>(5 баллов)</a:t>
            </a:r>
            <a:r>
              <a:rPr lang="ru-RU" sz="2000" i="1" dirty="0"/>
              <a:t>;</a:t>
            </a:r>
            <a:endParaRPr lang="ru-RU" sz="2000" dirty="0"/>
          </a:p>
          <a:p>
            <a:pPr marL="457200" lvl="0" indent="-457200">
              <a:buFont typeface="+mj-lt"/>
              <a:buAutoNum type="arabicPeriod"/>
            </a:pPr>
            <a:r>
              <a:rPr lang="ru-RU" sz="2000" i="1" dirty="0"/>
              <a:t>Имеется два числа (цифры) a и b. Вычислить y = 2a - b + 1; </a:t>
            </a:r>
            <a:r>
              <a:rPr lang="ru-RU" sz="2000" i="1" dirty="0" smtClean="0"/>
              <a:t/>
            </a:r>
            <a:br>
              <a:rPr lang="ru-RU" sz="2000" i="1" dirty="0" smtClean="0"/>
            </a:br>
            <a:r>
              <a:rPr lang="ru-RU" sz="2000" b="1" i="1" dirty="0" smtClean="0"/>
              <a:t>(</a:t>
            </a:r>
            <a:r>
              <a:rPr lang="ru-RU" sz="2000" b="1" i="1" dirty="0"/>
              <a:t>8 баллов)</a:t>
            </a:r>
            <a:r>
              <a:rPr lang="ru-RU" sz="2000" i="1" dirty="0"/>
              <a:t>;</a:t>
            </a:r>
            <a:endParaRPr lang="ru-RU" sz="2000" dirty="0"/>
          </a:p>
          <a:p>
            <a:pPr marL="457200" lvl="0" indent="-457200">
              <a:buFont typeface="+mj-lt"/>
              <a:buAutoNum type="arabicPeriod"/>
            </a:pPr>
            <a:r>
              <a:rPr lang="ru-RU" sz="2000" i="1" dirty="0"/>
              <a:t>Вывести на экран сумму цифр </a:t>
            </a:r>
            <a:r>
              <a:rPr lang="ru-RU" sz="2000" i="1" dirty="0" smtClean="0"/>
              <a:t>любого двухзначного числа введенного </a:t>
            </a:r>
            <a:r>
              <a:rPr lang="ru-RU" sz="2000" i="1" dirty="0"/>
              <a:t>с клавиатуры </a:t>
            </a:r>
            <a:r>
              <a:rPr lang="ru-RU" sz="2000" i="1" dirty="0" smtClean="0"/>
              <a:t/>
            </a:r>
            <a:br>
              <a:rPr lang="ru-RU" sz="2000" i="1" dirty="0" smtClean="0"/>
            </a:br>
            <a:r>
              <a:rPr lang="ru-RU" sz="2000" b="1" i="1" dirty="0" smtClean="0"/>
              <a:t>(</a:t>
            </a:r>
            <a:r>
              <a:rPr lang="ru-RU" sz="2000" b="1" i="1" dirty="0"/>
              <a:t>12 баллов);</a:t>
            </a:r>
            <a:endParaRPr lang="ru-RU" sz="2000" b="1" dirty="0"/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6404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9315704" cy="3977640"/>
          </a:xfrm>
        </p:spPr>
        <p:txBody>
          <a:bodyPr>
            <a:norm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cstdint</a:t>
            </a:r>
            <a:r>
              <a:rPr lang="en-US" sz="2400" dirty="0"/>
              <a:t>&gt; </a:t>
            </a:r>
            <a:endParaRPr lang="en-US" sz="2400" dirty="0" smtClean="0"/>
          </a:p>
          <a:p>
            <a:r>
              <a:rPr lang="en-US" sz="2400" dirty="0" smtClean="0"/>
              <a:t>int64_t </a:t>
            </a:r>
            <a:r>
              <a:rPr lang="en-US" sz="2400" dirty="0"/>
              <a:t>foo; uint64_t bar; // 8 </a:t>
            </a:r>
            <a:r>
              <a:rPr lang="ru-RU" sz="2400" dirty="0"/>
              <a:t>байт. Знаковый и </a:t>
            </a:r>
            <a:r>
              <a:rPr lang="ru-RU" sz="2400" dirty="0" err="1"/>
              <a:t>беззнаковый</a:t>
            </a:r>
            <a:r>
              <a:rPr lang="ru-RU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int32_t </a:t>
            </a:r>
            <a:r>
              <a:rPr lang="en-US" sz="2400" dirty="0"/>
              <a:t>foo; uint32_t bar; // 4 </a:t>
            </a:r>
            <a:r>
              <a:rPr lang="ru-RU" sz="2400" dirty="0"/>
              <a:t>байта. Знаковый и </a:t>
            </a:r>
            <a:r>
              <a:rPr lang="ru-RU" sz="2400" dirty="0" err="1"/>
              <a:t>беззнаковый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71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684355_TF10001108" id="{17B91EBE-D158-4FFD-AF7C-4E097C748B8C}" vid="{D4781F32-87B7-4A3C-9004-047C67B4AFB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Добро пожаловать в PowerPoint!</Template>
  <TotalTime>1325</TotalTime>
  <Words>1358</Words>
  <Application>Microsoft Office PowerPoint</Application>
  <PresentationFormat>Широкоэкранный</PresentationFormat>
  <Paragraphs>209</Paragraphs>
  <Slides>18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 Unicode MS</vt:lpstr>
      <vt:lpstr>Arial</vt:lpstr>
      <vt:lpstr>Calibri</vt:lpstr>
      <vt:lpstr>Courier New</vt:lpstr>
      <vt:lpstr>Segoe UI</vt:lpstr>
      <vt:lpstr>Segoe UI Light</vt:lpstr>
      <vt:lpstr>Times New Roman</vt:lpstr>
      <vt:lpstr>WelcomeDoc</vt:lpstr>
      <vt:lpstr>Добро пожаловать в Assembler!</vt:lpstr>
      <vt:lpstr>Принципы фон Неймана</vt:lpstr>
      <vt:lpstr>Принципы фон Неймана</vt:lpstr>
      <vt:lpstr>Структура регистров процессора</vt:lpstr>
      <vt:lpstr>Команды Ассемблера</vt:lpstr>
      <vt:lpstr>Основные группы команд</vt:lpstr>
      <vt:lpstr>Основные команды Ассемблера</vt:lpstr>
      <vt:lpstr>Команда MOV</vt:lpstr>
      <vt:lpstr>Основные команды Ассемблера</vt:lpstr>
      <vt:lpstr>Команды двоичной арифметики</vt:lpstr>
      <vt:lpstr>Команды двоичной арифметики</vt:lpstr>
      <vt:lpstr>Примеры работы</vt:lpstr>
      <vt:lpstr>Примеры работы</vt:lpstr>
      <vt:lpstr>Примеры работы</vt:lpstr>
      <vt:lpstr>Библиотеки для Ассемблерной вставки</vt:lpstr>
      <vt:lpstr>Логический сдвиг операнда влево/вправо</vt:lpstr>
      <vt:lpstr>Задания для самостоятельного выполнения 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Добро пожаловать в PowerPoint!</dc:title>
  <dc:creator>Alex Pes</dc:creator>
  <cp:keywords/>
  <cp:lastModifiedBy>Пестов Александр Игоревич</cp:lastModifiedBy>
  <cp:revision>24</cp:revision>
  <dcterms:created xsi:type="dcterms:W3CDTF">2019-02-17T19:45:43Z</dcterms:created>
  <dcterms:modified xsi:type="dcterms:W3CDTF">2020-02-14T10:39:21Z</dcterms:modified>
  <cp:version/>
</cp:coreProperties>
</file>